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587ca2d-c6da-ac05-6ffe-7af59ab5e90e}">
          <p14:sldIdLst>
            <p14:sldId id="256"/>
          </p14:sldIdLst>
        </p14:section>
        <p14:section name="Problem" id="{d59fdd68-f950-91f2-82a6-292ee0500391}">
          <p14:sldIdLst>
            <p14:sldId id="257"/>
            <p14:sldId id="258"/>
          </p14:sldIdLst>
        </p14:section>
        <p14:section name="Pipeline" id="{7de00ab3-edaa-68db-080d-72704be95a21}">
          <p14:sldIdLst>
            <p14:sldId id="259"/>
            <p14:sldId id="260"/>
          </p14:sldIdLst>
        </p14:section>
        <p14:section name="Results" id="{c66d7985-9f90-66e8-d22d-4d67ba3d6a64}">
          <p14:sldIdLst>
            <p14:sldId id="261"/>
            <p14:sldId id="262"/>
          </p14:sldIdLst>
        </p14:section>
        <p14:section name="Adoption" id="{925a2aa1-18c7-14b8-4d43-fa4015d2816d}">
          <p14:sldIdLst>
            <p14:sldId id="263"/>
            <p14:sldId id="264"/>
          </p14:sldIdLst>
        </p14:section>
        <p14:section name="Close" id="{a56647e0-fcdf-3565-f154-341cdcb90620}">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93C41"/>
                </a:solidFill>
                <a:latin typeface="+mn-lt"/>
              </a:defRPr>
            </a:pPr>
            <a:r>
              <a:rPr sz="1100" b="0" i="0" u="none" strike="noStrike">
                <a:solidFill>
                  <a:srgbClr val="393C41"/>
                </a:solidFill>
                <a:latin typeface="+mn-lt"/>
              </a:rPr>
              <a:t>Best-so-far train score, £/MW/day, by experiment</a:t>
            </a:r>
          </a:p>
        </c:rich>
      </c:tx>
      <c:layout/>
      <c:overlay val="0"/>
    </c:title>
    <c:autoTitleDeleted val="0"/>
    <c:plotArea>
      <c:layout/>
      <c:lineChart>
        <c:varyColors val="0"/>
        <c:ser>
          <c:idx val="0"/>
          <c:order val="0"/>
          <c:tx>
            <c:strRef>
              <c:f>Sheet1!$B$1</c:f>
              <c:strCache>
                <c:ptCount val="1"/>
                <c:pt idx="0">
                  <c:v>best train score</c:v>
                </c:pt>
              </c:strCache>
            </c:strRef>
          </c:tx>
          <c:spPr>
            <a:solidFill>
              <a:srgbClr val="2A6A4A"/>
            </a:solidFill>
            <a:ln w="25400" cap="flat">
              <a:solidFill>
                <a:srgbClr val="2A6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6A4A"/>
              </a:solidFill>
              <a:ln w="9525" cap="flat">
                <a:solidFill>
                  <a:srgbClr val="2A6A4A"/>
                </a:solidFill>
                <a:prstDash val="solid"/>
                <a:round/>
              </a:ln>
              <a:effectLst/>
            </c:spPr>
          </c:marker>
          <c:cat>
            <c:multiLvlStrRef>
              <c:f>Sheet1!$A$2:$A$251</c:f>
              <c:multiLvlStrCache>
                <c:ptCount val="25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lvl>
              </c:multiLvlStrCache>
            </c:multiLvlStrRef>
          </c:cat>
          <c:val>
            <c:numRef>
              <c:f>Sheet1!$B$2:$B$251</c:f>
              <c:numCache>
                <c:formatCode>General</c:formatCode>
                <c:ptCount val="250"/>
                <c:pt idx="0">
                  <c:v>15.39</c:v>
                </c:pt>
                <c:pt idx="1">
                  <c:v>15.39</c:v>
                </c:pt>
                <c:pt idx="2">
                  <c:v>15.39</c:v>
                </c:pt>
                <c:pt idx="3">
                  <c:v>20.18</c:v>
                </c:pt>
                <c:pt idx="4">
                  <c:v>20.18</c:v>
                </c:pt>
                <c:pt idx="5">
                  <c:v>20.18</c:v>
                </c:pt>
                <c:pt idx="6">
                  <c:v>20.18</c:v>
                </c:pt>
                <c:pt idx="7">
                  <c:v>20.18</c:v>
                </c:pt>
                <c:pt idx="8">
                  <c:v>22.24</c:v>
                </c:pt>
                <c:pt idx="9">
                  <c:v>22.59</c:v>
                </c:pt>
                <c:pt idx="10">
                  <c:v>22.59</c:v>
                </c:pt>
                <c:pt idx="11">
                  <c:v>22.59</c:v>
                </c:pt>
                <c:pt idx="12">
                  <c:v>24.01</c:v>
                </c:pt>
                <c:pt idx="13">
                  <c:v>24.12</c:v>
                </c:pt>
                <c:pt idx="14">
                  <c:v>24.12</c:v>
                </c:pt>
                <c:pt idx="15">
                  <c:v>24.12</c:v>
                </c:pt>
                <c:pt idx="16">
                  <c:v>24.12</c:v>
                </c:pt>
                <c:pt idx="17">
                  <c:v>25.12</c:v>
                </c:pt>
                <c:pt idx="18">
                  <c:v>25.12</c:v>
                </c:pt>
                <c:pt idx="19">
                  <c:v>25.93</c:v>
                </c:pt>
                <c:pt idx="20">
                  <c:v>25.93</c:v>
                </c:pt>
                <c:pt idx="21">
                  <c:v>25.93</c:v>
                </c:pt>
                <c:pt idx="22">
                  <c:v>25.93</c:v>
                </c:pt>
                <c:pt idx="23">
                  <c:v>25.93</c:v>
                </c:pt>
                <c:pt idx="24">
                  <c:v>26.03</c:v>
                </c:pt>
                <c:pt idx="25">
                  <c:v>26.03</c:v>
                </c:pt>
                <c:pt idx="26">
                  <c:v>26.03</c:v>
                </c:pt>
                <c:pt idx="27">
                  <c:v>26.03</c:v>
                </c:pt>
                <c:pt idx="28">
                  <c:v>26.03</c:v>
                </c:pt>
                <c:pt idx="29">
                  <c:v>26.03</c:v>
                </c:pt>
                <c:pt idx="30">
                  <c:v>26.33</c:v>
                </c:pt>
                <c:pt idx="31">
                  <c:v>26.33</c:v>
                </c:pt>
                <c:pt idx="32">
                  <c:v>26.33</c:v>
                </c:pt>
                <c:pt idx="33">
                  <c:v>26.33</c:v>
                </c:pt>
                <c:pt idx="34">
                  <c:v>27.54</c:v>
                </c:pt>
                <c:pt idx="35">
                  <c:v>27.54</c:v>
                </c:pt>
                <c:pt idx="36">
                  <c:v>27.54</c:v>
                </c:pt>
                <c:pt idx="37">
                  <c:v>27.54</c:v>
                </c:pt>
                <c:pt idx="38">
                  <c:v>27.54</c:v>
                </c:pt>
                <c:pt idx="39">
                  <c:v>28.2</c:v>
                </c:pt>
                <c:pt idx="40">
                  <c:v>28.39</c:v>
                </c:pt>
                <c:pt idx="41">
                  <c:v>29.01</c:v>
                </c:pt>
                <c:pt idx="42">
                  <c:v>29.01</c:v>
                </c:pt>
                <c:pt idx="43">
                  <c:v>29.18</c:v>
                </c:pt>
                <c:pt idx="44">
                  <c:v>29.18</c:v>
                </c:pt>
                <c:pt idx="45">
                  <c:v>29.18</c:v>
                </c:pt>
                <c:pt idx="46">
                  <c:v>29.18</c:v>
                </c:pt>
                <c:pt idx="47">
                  <c:v>29.19</c:v>
                </c:pt>
                <c:pt idx="48">
                  <c:v>29.86</c:v>
                </c:pt>
                <c:pt idx="49">
                  <c:v>29.86</c:v>
                </c:pt>
                <c:pt idx="50">
                  <c:v>30.23</c:v>
                </c:pt>
                <c:pt idx="51">
                  <c:v>30.23</c:v>
                </c:pt>
                <c:pt idx="52">
                  <c:v>30.23</c:v>
                </c:pt>
                <c:pt idx="53">
                  <c:v>30.23</c:v>
                </c:pt>
                <c:pt idx="54">
                  <c:v>30.23</c:v>
                </c:pt>
                <c:pt idx="55">
                  <c:v>30.23</c:v>
                </c:pt>
                <c:pt idx="56">
                  <c:v>30.23</c:v>
                </c:pt>
                <c:pt idx="57">
                  <c:v>30.23</c:v>
                </c:pt>
                <c:pt idx="58">
                  <c:v>30.23</c:v>
                </c:pt>
                <c:pt idx="59">
                  <c:v>30.23</c:v>
                </c:pt>
                <c:pt idx="60">
                  <c:v>30.23</c:v>
                </c:pt>
                <c:pt idx="61">
                  <c:v>30.23</c:v>
                </c:pt>
                <c:pt idx="62">
                  <c:v>30.23</c:v>
                </c:pt>
                <c:pt idx="63">
                  <c:v>30.23</c:v>
                </c:pt>
                <c:pt idx="64">
                  <c:v>30.23</c:v>
                </c:pt>
                <c:pt idx="65">
                  <c:v>30.23</c:v>
                </c:pt>
                <c:pt idx="66">
                  <c:v>30.23</c:v>
                </c:pt>
                <c:pt idx="67">
                  <c:v>30.23</c:v>
                </c:pt>
                <c:pt idx="68">
                  <c:v>30.32</c:v>
                </c:pt>
                <c:pt idx="69">
                  <c:v>30.32</c:v>
                </c:pt>
                <c:pt idx="70">
                  <c:v>30.32</c:v>
                </c:pt>
                <c:pt idx="71">
                  <c:v>30.5</c:v>
                </c:pt>
                <c:pt idx="72">
                  <c:v>30.5</c:v>
                </c:pt>
                <c:pt idx="73">
                  <c:v>30.5</c:v>
                </c:pt>
                <c:pt idx="74">
                  <c:v>30.5</c:v>
                </c:pt>
                <c:pt idx="75">
                  <c:v>30.5</c:v>
                </c:pt>
                <c:pt idx="76">
                  <c:v>30.5</c:v>
                </c:pt>
                <c:pt idx="77">
                  <c:v>30.5</c:v>
                </c:pt>
                <c:pt idx="78">
                  <c:v>30.5</c:v>
                </c:pt>
                <c:pt idx="79">
                  <c:v>30.5</c:v>
                </c:pt>
                <c:pt idx="80">
                  <c:v>30.5</c:v>
                </c:pt>
                <c:pt idx="81">
                  <c:v>30.5</c:v>
                </c:pt>
                <c:pt idx="82">
                  <c:v>30.5</c:v>
                </c:pt>
                <c:pt idx="83">
                  <c:v>30.5</c:v>
                </c:pt>
                <c:pt idx="84">
                  <c:v>30.5</c:v>
                </c:pt>
                <c:pt idx="85">
                  <c:v>30.5</c:v>
                </c:pt>
                <c:pt idx="86">
                  <c:v>30.5</c:v>
                </c:pt>
                <c:pt idx="87">
                  <c:v>30.5</c:v>
                </c:pt>
                <c:pt idx="88">
                  <c:v>30.5</c:v>
                </c:pt>
                <c:pt idx="89">
                  <c:v>30.5</c:v>
                </c:pt>
                <c:pt idx="90">
                  <c:v>30.63</c:v>
                </c:pt>
                <c:pt idx="91">
                  <c:v>30.63</c:v>
                </c:pt>
                <c:pt idx="92">
                  <c:v>30.63</c:v>
                </c:pt>
                <c:pt idx="93">
                  <c:v>30.63</c:v>
                </c:pt>
                <c:pt idx="94">
                  <c:v>30.63</c:v>
                </c:pt>
                <c:pt idx="95">
                  <c:v>30.63</c:v>
                </c:pt>
                <c:pt idx="96">
                  <c:v>30.63</c:v>
                </c:pt>
                <c:pt idx="97">
                  <c:v>30.82</c:v>
                </c:pt>
                <c:pt idx="98">
                  <c:v>30.88</c:v>
                </c:pt>
                <c:pt idx="99">
                  <c:v>30.88</c:v>
                </c:pt>
                <c:pt idx="100">
                  <c:v>31.19</c:v>
                </c:pt>
                <c:pt idx="101">
                  <c:v>31.19</c:v>
                </c:pt>
                <c:pt idx="102">
                  <c:v>31.19</c:v>
                </c:pt>
                <c:pt idx="103">
                  <c:v>31.21</c:v>
                </c:pt>
                <c:pt idx="104">
                  <c:v>31.21</c:v>
                </c:pt>
                <c:pt idx="105">
                  <c:v>31.34</c:v>
                </c:pt>
                <c:pt idx="106">
                  <c:v>31.34</c:v>
                </c:pt>
                <c:pt idx="107">
                  <c:v>31.34</c:v>
                </c:pt>
                <c:pt idx="108">
                  <c:v>31.34</c:v>
                </c:pt>
                <c:pt idx="109">
                  <c:v>31.34</c:v>
                </c:pt>
                <c:pt idx="110">
                  <c:v>31.34</c:v>
                </c:pt>
                <c:pt idx="111">
                  <c:v>31.34</c:v>
                </c:pt>
                <c:pt idx="112">
                  <c:v>31.34</c:v>
                </c:pt>
                <c:pt idx="113">
                  <c:v>31.34</c:v>
                </c:pt>
                <c:pt idx="114">
                  <c:v>31.34</c:v>
                </c:pt>
                <c:pt idx="115">
                  <c:v>31.34</c:v>
                </c:pt>
                <c:pt idx="116">
                  <c:v>31.52</c:v>
                </c:pt>
                <c:pt idx="117">
                  <c:v>31.52</c:v>
                </c:pt>
                <c:pt idx="118">
                  <c:v>31.73</c:v>
                </c:pt>
                <c:pt idx="119">
                  <c:v>31.73</c:v>
                </c:pt>
                <c:pt idx="120">
                  <c:v>31.73</c:v>
                </c:pt>
                <c:pt idx="121">
                  <c:v>31.73</c:v>
                </c:pt>
                <c:pt idx="122">
                  <c:v>31.73</c:v>
                </c:pt>
                <c:pt idx="123">
                  <c:v>31.73</c:v>
                </c:pt>
                <c:pt idx="124">
                  <c:v>31.73</c:v>
                </c:pt>
                <c:pt idx="125">
                  <c:v>31.73</c:v>
                </c:pt>
                <c:pt idx="126">
                  <c:v>31.73</c:v>
                </c:pt>
                <c:pt idx="127">
                  <c:v>31.73</c:v>
                </c:pt>
                <c:pt idx="128">
                  <c:v>31.73</c:v>
                </c:pt>
                <c:pt idx="129">
                  <c:v>31.73</c:v>
                </c:pt>
                <c:pt idx="130">
                  <c:v>31.73</c:v>
                </c:pt>
                <c:pt idx="131">
                  <c:v>31.73</c:v>
                </c:pt>
                <c:pt idx="132">
                  <c:v>31.73</c:v>
                </c:pt>
                <c:pt idx="133">
                  <c:v>31.73</c:v>
                </c:pt>
                <c:pt idx="134">
                  <c:v>31.73</c:v>
                </c:pt>
                <c:pt idx="135">
                  <c:v>31.73</c:v>
                </c:pt>
                <c:pt idx="136">
                  <c:v>31.73</c:v>
                </c:pt>
                <c:pt idx="137">
                  <c:v>31.73</c:v>
                </c:pt>
                <c:pt idx="138">
                  <c:v>31.73</c:v>
                </c:pt>
                <c:pt idx="139">
                  <c:v>31.73</c:v>
                </c:pt>
                <c:pt idx="140">
                  <c:v>31.73</c:v>
                </c:pt>
                <c:pt idx="141">
                  <c:v>31.84</c:v>
                </c:pt>
                <c:pt idx="142">
                  <c:v>31.84</c:v>
                </c:pt>
                <c:pt idx="143">
                  <c:v>31.85</c:v>
                </c:pt>
                <c:pt idx="144">
                  <c:v>31.92</c:v>
                </c:pt>
                <c:pt idx="145">
                  <c:v>31.92</c:v>
                </c:pt>
                <c:pt idx="146">
                  <c:v>32.1</c:v>
                </c:pt>
                <c:pt idx="147">
                  <c:v>32.1</c:v>
                </c:pt>
                <c:pt idx="148">
                  <c:v>32.1</c:v>
                </c:pt>
                <c:pt idx="149">
                  <c:v>32.1</c:v>
                </c:pt>
                <c:pt idx="150">
                  <c:v>32.1</c:v>
                </c:pt>
                <c:pt idx="151">
                  <c:v>32.1</c:v>
                </c:pt>
                <c:pt idx="152">
                  <c:v>32.13</c:v>
                </c:pt>
                <c:pt idx="153">
                  <c:v>32.13</c:v>
                </c:pt>
                <c:pt idx="154">
                  <c:v>32.13</c:v>
                </c:pt>
                <c:pt idx="155">
                  <c:v>32.13</c:v>
                </c:pt>
                <c:pt idx="156">
                  <c:v>32.13</c:v>
                </c:pt>
                <c:pt idx="157">
                  <c:v>32.13</c:v>
                </c:pt>
                <c:pt idx="158">
                  <c:v>32.13</c:v>
                </c:pt>
                <c:pt idx="159">
                  <c:v>32.13</c:v>
                </c:pt>
                <c:pt idx="160">
                  <c:v>32.13</c:v>
                </c:pt>
                <c:pt idx="161">
                  <c:v>32.13</c:v>
                </c:pt>
                <c:pt idx="162">
                  <c:v>32.13</c:v>
                </c:pt>
                <c:pt idx="163">
                  <c:v>32.13</c:v>
                </c:pt>
                <c:pt idx="164">
                  <c:v>32.28</c:v>
                </c:pt>
                <c:pt idx="165">
                  <c:v>32.28</c:v>
                </c:pt>
                <c:pt idx="166">
                  <c:v>32.28</c:v>
                </c:pt>
                <c:pt idx="167">
                  <c:v>32.28</c:v>
                </c:pt>
                <c:pt idx="168">
                  <c:v>32.31</c:v>
                </c:pt>
                <c:pt idx="169">
                  <c:v>32.31</c:v>
                </c:pt>
                <c:pt idx="170">
                  <c:v>32.31</c:v>
                </c:pt>
                <c:pt idx="171">
                  <c:v>32.31</c:v>
                </c:pt>
                <c:pt idx="172">
                  <c:v>32.31</c:v>
                </c:pt>
                <c:pt idx="173">
                  <c:v>32.31</c:v>
                </c:pt>
                <c:pt idx="174">
                  <c:v>32.31</c:v>
                </c:pt>
                <c:pt idx="175">
                  <c:v>32.31</c:v>
                </c:pt>
                <c:pt idx="176">
                  <c:v>32.31</c:v>
                </c:pt>
                <c:pt idx="177">
                  <c:v>32.31</c:v>
                </c:pt>
                <c:pt idx="178">
                  <c:v>32.31</c:v>
                </c:pt>
                <c:pt idx="179">
                  <c:v>32.31</c:v>
                </c:pt>
                <c:pt idx="180">
                  <c:v>32.31</c:v>
                </c:pt>
                <c:pt idx="181">
                  <c:v>32.31</c:v>
                </c:pt>
                <c:pt idx="182">
                  <c:v>32.31</c:v>
                </c:pt>
                <c:pt idx="183">
                  <c:v>32.31</c:v>
                </c:pt>
                <c:pt idx="184">
                  <c:v>32.31</c:v>
                </c:pt>
                <c:pt idx="185">
                  <c:v>32.31</c:v>
                </c:pt>
                <c:pt idx="186">
                  <c:v>32.31</c:v>
                </c:pt>
                <c:pt idx="187">
                  <c:v>32.31</c:v>
                </c:pt>
                <c:pt idx="188">
                  <c:v>32.31</c:v>
                </c:pt>
                <c:pt idx="189">
                  <c:v>32.31</c:v>
                </c:pt>
                <c:pt idx="190">
                  <c:v>32.31</c:v>
                </c:pt>
                <c:pt idx="191">
                  <c:v>32.31</c:v>
                </c:pt>
                <c:pt idx="192">
                  <c:v>32.31</c:v>
                </c:pt>
                <c:pt idx="193">
                  <c:v>32.31</c:v>
                </c:pt>
                <c:pt idx="194">
                  <c:v>32.31</c:v>
                </c:pt>
                <c:pt idx="195">
                  <c:v>32.31</c:v>
                </c:pt>
                <c:pt idx="196">
                  <c:v>32.31</c:v>
                </c:pt>
                <c:pt idx="197">
                  <c:v>32.31</c:v>
                </c:pt>
                <c:pt idx="198">
                  <c:v>32.31</c:v>
                </c:pt>
                <c:pt idx="199">
                  <c:v>32.31</c:v>
                </c:pt>
                <c:pt idx="200">
                  <c:v>32.31</c:v>
                </c:pt>
                <c:pt idx="201">
                  <c:v>32.31</c:v>
                </c:pt>
                <c:pt idx="202">
                  <c:v>32.31</c:v>
                </c:pt>
                <c:pt idx="203">
                  <c:v>32.31</c:v>
                </c:pt>
                <c:pt idx="204">
                  <c:v>32.31</c:v>
                </c:pt>
                <c:pt idx="205">
                  <c:v>32.33</c:v>
                </c:pt>
                <c:pt idx="206">
                  <c:v>32.33</c:v>
                </c:pt>
                <c:pt idx="207">
                  <c:v>32.33</c:v>
                </c:pt>
                <c:pt idx="208">
                  <c:v>32.33</c:v>
                </c:pt>
                <c:pt idx="209">
                  <c:v>32.42</c:v>
                </c:pt>
                <c:pt idx="210">
                  <c:v>32.42</c:v>
                </c:pt>
                <c:pt idx="211">
                  <c:v>32.42</c:v>
                </c:pt>
                <c:pt idx="212">
                  <c:v>32.42</c:v>
                </c:pt>
                <c:pt idx="213">
                  <c:v>32.42</c:v>
                </c:pt>
                <c:pt idx="214">
                  <c:v>32.42</c:v>
                </c:pt>
                <c:pt idx="215">
                  <c:v>32.42</c:v>
                </c:pt>
                <c:pt idx="216">
                  <c:v>32.42</c:v>
                </c:pt>
                <c:pt idx="217">
                  <c:v>32.42</c:v>
                </c:pt>
                <c:pt idx="218">
                  <c:v>32.42</c:v>
                </c:pt>
                <c:pt idx="219">
                  <c:v>32.42</c:v>
                </c:pt>
                <c:pt idx="220">
                  <c:v>32.42</c:v>
                </c:pt>
                <c:pt idx="221">
                  <c:v>32.42</c:v>
                </c:pt>
                <c:pt idx="222">
                  <c:v>32.42</c:v>
                </c:pt>
                <c:pt idx="223">
                  <c:v>32.42</c:v>
                </c:pt>
                <c:pt idx="224">
                  <c:v>32.42</c:v>
                </c:pt>
                <c:pt idx="225">
                  <c:v>32.42</c:v>
                </c:pt>
                <c:pt idx="226">
                  <c:v>32.42</c:v>
                </c:pt>
                <c:pt idx="227">
                  <c:v>32.42</c:v>
                </c:pt>
                <c:pt idx="228">
                  <c:v>32.42</c:v>
                </c:pt>
                <c:pt idx="229">
                  <c:v>32.42</c:v>
                </c:pt>
                <c:pt idx="230">
                  <c:v>32.42</c:v>
                </c:pt>
                <c:pt idx="231">
                  <c:v>32.42</c:v>
                </c:pt>
                <c:pt idx="232">
                  <c:v>32.42</c:v>
                </c:pt>
                <c:pt idx="233">
                  <c:v>32.42</c:v>
                </c:pt>
                <c:pt idx="234">
                  <c:v>32.42</c:v>
                </c:pt>
                <c:pt idx="235">
                  <c:v>32.42</c:v>
                </c:pt>
                <c:pt idx="236">
                  <c:v>32.42</c:v>
                </c:pt>
                <c:pt idx="237">
                  <c:v>32.42</c:v>
                </c:pt>
                <c:pt idx="238">
                  <c:v>32.42</c:v>
                </c:pt>
                <c:pt idx="239">
                  <c:v>32.42</c:v>
                </c:pt>
                <c:pt idx="240">
                  <c:v>32.42</c:v>
                </c:pt>
                <c:pt idx="241">
                  <c:v>32.42</c:v>
                </c:pt>
                <c:pt idx="242">
                  <c:v>32.42</c:v>
                </c:pt>
                <c:pt idx="243">
                  <c:v>32.42</c:v>
                </c:pt>
                <c:pt idx="244">
                  <c:v>32.42</c:v>
                </c:pt>
                <c:pt idx="245">
                  <c:v>32.42</c:v>
                </c:pt>
                <c:pt idx="246">
                  <c:v>32.42</c:v>
                </c:pt>
                <c:pt idx="247">
                  <c:v>32.42</c:v>
                </c:pt>
                <c:pt idx="248">
                  <c:v>32.42</c:v>
                </c:pt>
                <c:pt idx="249">
                  <c:v>32.42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C5E62"/>
                    </a:solidFill>
                    <a:latin typeface="+mn-lt"/>
                  </a:defRPr>
                </a:pPr>
                <a:r>
                  <a:rPr sz="900" b="0" i="0" u="none" strike="noStrike">
                    <a:solidFill>
                      <a:srgbClr val="5C5E62"/>
                    </a:solidFill>
                    <a:latin typeface="+mn-lt"/>
                  </a:rPr>
                  <a:t>experiment</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C5E62"/>
                </a:solidFill>
                <a:latin typeface="+mn-lt"/>
              </a:defRPr>
            </a:pPr>
            <a:endParaRPr lang="en-US"/>
          </a:p>
        </c:txPr>
        <c:crossAx val="2094734552"/>
        <c:crosses val="autoZero"/>
        <c:auto val="1"/>
        <c:lblAlgn val="ctr"/>
        <c:noMultiLvlLbl val="1"/>
        <c:tickLblSkip val="25"/>
      </c:catAx>
      <c:valAx>
        <c:axId val="2094734552"/>
        <c:scaling>
          <c:orientation val="minMax"/>
          <c:max val="70"/>
          <c:min val="0"/>
        </c:scaling>
        <c:delete val="0"/>
        <c:axPos val="l"/>
        <c:majorGridlines>
          <c:spPr>
            <a:ln w="6350" cap="flat">
              <a:solidFill>
                <a:srgbClr val="D0D1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5E62"/>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93C41"/>
                </a:solidFill>
                <a:latin typeface="+mn-lt"/>
              </a:defRPr>
            </a:pPr>
            <a:r>
              <a:rPr sz="1100" b="0" i="0" u="none" strike="noStrike">
                <a:solidFill>
                  <a:srgbClr val="393C41"/>
                </a:solidFill>
                <a:latin typeface="+mn-lt"/>
              </a:rPr>
              <a:t>Market index price, £/MWh, 8 to 14 Aug 2026 (second test week)</a:t>
            </a:r>
          </a:p>
        </c:rich>
      </c:tx>
      <c:layout/>
      <c:overlay val="0"/>
    </c:title>
    <c:autoTitleDeleted val="0"/>
    <c:plotArea>
      <c:layout/>
      <c:lineChart>
        <c:varyColors val="0"/>
        <c:ser>
          <c:idx val="0"/>
          <c:order val="0"/>
          <c:tx>
            <c:strRef>
              <c:f>Sheet1!$B$1</c:f>
              <c:strCache>
                <c:ptCount val="1"/>
                <c:pt idx="0">
                  <c:v>APX price £/MWh</c:v>
                </c:pt>
              </c:strCache>
            </c:strRef>
          </c:tx>
          <c:spPr>
            <a:solidFill>
              <a:srgbClr val="393C41"/>
            </a:solidFill>
            <a:ln w="15875" cap="flat">
              <a:solidFill>
                <a:srgbClr val="393C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3C41"/>
              </a:solidFill>
              <a:ln w="9525" cap="flat">
                <a:solidFill>
                  <a:srgbClr val="393C41"/>
                </a:solidFill>
                <a:prstDash val="solid"/>
                <a:round/>
              </a:ln>
              <a:effectLst/>
            </c:spPr>
          </c:marker>
          <c:cat>
            <c:multiLvlStrRef>
              <c:f>Sheet1!$A$2:$A$337</c:f>
              <c:multiLvlStrCache>
                <c:ptCount val="336"/>
                <c:lvl>
                  <c:pt idx="0">
                    <c:v>08-08</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08-09</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08-10</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08-11</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08-12</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08-13</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08-14</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lvl>
              </c:multiLvlStrCache>
            </c:multiLvlStrRef>
          </c:cat>
          <c:val>
            <c:numRef>
              <c:f>Sheet1!$B$2:$B$337</c:f>
              <c:numCache>
                <c:formatCode>General</c:formatCode>
                <c:ptCount val="336"/>
                <c:pt idx="0">
                  <c:v>109.78</c:v>
                </c:pt>
                <c:pt idx="1">
                  <c:v>116.34</c:v>
                </c:pt>
                <c:pt idx="2">
                  <c:v>109.55</c:v>
                </c:pt>
                <c:pt idx="3">
                  <c:v>110.67</c:v>
                </c:pt>
                <c:pt idx="4">
                  <c:v>110.13</c:v>
                </c:pt>
                <c:pt idx="5">
                  <c:v>110.7</c:v>
                </c:pt>
                <c:pt idx="6">
                  <c:v>112.82</c:v>
                </c:pt>
                <c:pt idx="7">
                  <c:v>113.62</c:v>
                </c:pt>
                <c:pt idx="8">
                  <c:v>117.67</c:v>
                </c:pt>
                <c:pt idx="9">
                  <c:v>119.14</c:v>
                </c:pt>
                <c:pt idx="10">
                  <c:v>121.68</c:v>
                </c:pt>
                <c:pt idx="11">
                  <c:v>123.4</c:v>
                </c:pt>
                <c:pt idx="12">
                  <c:v>112.18</c:v>
                </c:pt>
                <c:pt idx="13">
                  <c:v>114.59</c:v>
                </c:pt>
                <c:pt idx="14">
                  <c:v>75.72</c:v>
                </c:pt>
                <c:pt idx="15">
                  <c:v>80.82</c:v>
                </c:pt>
                <c:pt idx="16">
                  <c:v>53.75</c:v>
                </c:pt>
                <c:pt idx="17">
                  <c:v>50.36</c:v>
                </c:pt>
                <c:pt idx="18">
                  <c:v>14.78</c:v>
                </c:pt>
                <c:pt idx="19">
                  <c:v>3.01</c:v>
                </c:pt>
                <c:pt idx="20">
                  <c:v>-1.08</c:v>
                </c:pt>
                <c:pt idx="21">
                  <c:v>-3.56</c:v>
                </c:pt>
                <c:pt idx="22">
                  <c:v>-3.29</c:v>
                </c:pt>
                <c:pt idx="23">
                  <c:v>-7.07</c:v>
                </c:pt>
                <c:pt idx="24">
                  <c:v>-5.34</c:v>
                </c:pt>
                <c:pt idx="25">
                  <c:v>-6.58</c:v>
                </c:pt>
                <c:pt idx="26">
                  <c:v>-5.9</c:v>
                </c:pt>
                <c:pt idx="27">
                  <c:v>-7.2</c:v>
                </c:pt>
                <c:pt idx="28">
                  <c:v>-6.91</c:v>
                </c:pt>
                <c:pt idx="29">
                  <c:v>-6.44</c:v>
                </c:pt>
                <c:pt idx="30">
                  <c:v>5.5</c:v>
                </c:pt>
                <c:pt idx="31">
                  <c:v>10.62</c:v>
                </c:pt>
                <c:pt idx="32">
                  <c:v>43.21</c:v>
                </c:pt>
                <c:pt idx="33">
                  <c:v>79.12</c:v>
                </c:pt>
                <c:pt idx="34">
                  <c:v>117.46</c:v>
                </c:pt>
                <c:pt idx="35">
                  <c:v>124.7</c:v>
                </c:pt>
                <c:pt idx="36">
                  <c:v>135.47</c:v>
                </c:pt>
                <c:pt idx="37">
                  <c:v>147.92</c:v>
                </c:pt>
                <c:pt idx="38">
                  <c:v>158.35</c:v>
                </c:pt>
                <c:pt idx="39">
                  <c:v>162.94</c:v>
                </c:pt>
                <c:pt idx="40">
                  <c:v>160.53</c:v>
                </c:pt>
                <c:pt idx="41">
                  <c:v>158.3</c:v>
                </c:pt>
                <c:pt idx="42">
                  <c:v>153.1</c:v>
                </c:pt>
                <c:pt idx="43">
                  <c:v>151.98</c:v>
                </c:pt>
                <c:pt idx="44">
                  <c:v>148.16</c:v>
                </c:pt>
                <c:pt idx="45">
                  <c:v>137.44</c:v>
                </c:pt>
                <c:pt idx="46">
                  <c:v>123.38</c:v>
                </c:pt>
                <c:pt idx="47">
                  <c:v>126.19</c:v>
                </c:pt>
                <c:pt idx="48">
                  <c:v>117.84</c:v>
                </c:pt>
                <c:pt idx="49">
                  <c:v>121.15</c:v>
                </c:pt>
                <c:pt idx="50">
                  <c:v>115.38</c:v>
                </c:pt>
                <c:pt idx="51">
                  <c:v>117.54</c:v>
                </c:pt>
                <c:pt idx="52">
                  <c:v>112.67</c:v>
                </c:pt>
                <c:pt idx="53">
                  <c:v>111.52</c:v>
                </c:pt>
                <c:pt idx="54">
                  <c:v>125.42</c:v>
                </c:pt>
                <c:pt idx="55">
                  <c:v>122.02</c:v>
                </c:pt>
                <c:pt idx="56">
                  <c:v>123.04</c:v>
                </c:pt>
                <c:pt idx="57">
                  <c:v>124.92</c:v>
                </c:pt>
                <c:pt idx="58">
                  <c:v>128.47</c:v>
                </c:pt>
                <c:pt idx="59">
                  <c:v>130.01</c:v>
                </c:pt>
                <c:pt idx="60">
                  <c:v>120.03</c:v>
                </c:pt>
                <c:pt idx="61">
                  <c:v>122.68</c:v>
                </c:pt>
                <c:pt idx="62">
                  <c:v>85.56</c:v>
                </c:pt>
                <c:pt idx="63">
                  <c:v>83.4</c:v>
                </c:pt>
                <c:pt idx="64">
                  <c:v>42.83</c:v>
                </c:pt>
                <c:pt idx="65">
                  <c:v>36.61</c:v>
                </c:pt>
                <c:pt idx="66">
                  <c:v>23.87</c:v>
                </c:pt>
                <c:pt idx="67">
                  <c:v>16.09</c:v>
                </c:pt>
                <c:pt idx="68">
                  <c:v>14.47</c:v>
                </c:pt>
                <c:pt idx="69">
                  <c:v>7.99</c:v>
                </c:pt>
                <c:pt idx="70">
                  <c:v>3.24</c:v>
                </c:pt>
                <c:pt idx="71">
                  <c:v>2.6</c:v>
                </c:pt>
                <c:pt idx="72">
                  <c:v>2.28</c:v>
                </c:pt>
                <c:pt idx="73">
                  <c:v>3.52</c:v>
                </c:pt>
                <c:pt idx="74">
                  <c:v>14.21</c:v>
                </c:pt>
                <c:pt idx="75">
                  <c:v>22.43</c:v>
                </c:pt>
                <c:pt idx="76">
                  <c:v>41.36</c:v>
                </c:pt>
                <c:pt idx="77">
                  <c:v>51.8</c:v>
                </c:pt>
                <c:pt idx="78">
                  <c:v>81.95</c:v>
                </c:pt>
                <c:pt idx="79">
                  <c:v>93.92</c:v>
                </c:pt>
                <c:pt idx="80">
                  <c:v>108.58</c:v>
                </c:pt>
                <c:pt idx="81">
                  <c:v>110.25</c:v>
                </c:pt>
                <c:pt idx="82">
                  <c:v>131.86</c:v>
                </c:pt>
                <c:pt idx="83">
                  <c:v>121.4</c:v>
                </c:pt>
                <c:pt idx="84">
                  <c:v>139.71</c:v>
                </c:pt>
                <c:pt idx="85">
                  <c:v>139.72</c:v>
                </c:pt>
                <c:pt idx="86">
                  <c:v>145.37</c:v>
                </c:pt>
                <c:pt idx="87">
                  <c:v>149.18</c:v>
                </c:pt>
                <c:pt idx="88">
                  <c:v>145.56</c:v>
                </c:pt>
                <c:pt idx="89">
                  <c:v>147.01</c:v>
                </c:pt>
                <c:pt idx="90">
                  <c:v>143.39</c:v>
                </c:pt>
                <c:pt idx="91">
                  <c:v>141.57</c:v>
                </c:pt>
                <c:pt idx="92">
                  <c:v>136.45</c:v>
                </c:pt>
                <c:pt idx="93">
                  <c:v>128.54</c:v>
                </c:pt>
                <c:pt idx="94">
                  <c:v>119.09</c:v>
                </c:pt>
                <c:pt idx="95">
                  <c:v>114.34</c:v>
                </c:pt>
                <c:pt idx="96">
                  <c:v>108.68</c:v>
                </c:pt>
                <c:pt idx="97">
                  <c:v>108.68</c:v>
                </c:pt>
                <c:pt idx="98">
                  <c:v>113.35</c:v>
                </c:pt>
                <c:pt idx="99">
                  <c:v>110.18</c:v>
                </c:pt>
                <c:pt idx="100">
                  <c:v>106.13</c:v>
                </c:pt>
                <c:pt idx="101">
                  <c:v>104.21</c:v>
                </c:pt>
                <c:pt idx="102">
                  <c:v>110.3</c:v>
                </c:pt>
                <c:pt idx="103">
                  <c:v>110.96</c:v>
                </c:pt>
                <c:pt idx="104">
                  <c:v>113.72</c:v>
                </c:pt>
                <c:pt idx="105">
                  <c:v>111.19</c:v>
                </c:pt>
                <c:pt idx="106">
                  <c:v>125.11</c:v>
                </c:pt>
                <c:pt idx="107">
                  <c:v>128.2</c:v>
                </c:pt>
                <c:pt idx="108">
                  <c:v>132.73</c:v>
                </c:pt>
                <c:pt idx="109">
                  <c:v>139.64</c:v>
                </c:pt>
                <c:pt idx="110">
                  <c:v>135.18</c:v>
                </c:pt>
                <c:pt idx="111">
                  <c:v>145.19</c:v>
                </c:pt>
                <c:pt idx="112">
                  <c:v>125.5</c:v>
                </c:pt>
                <c:pt idx="113">
                  <c:v>130.32</c:v>
                </c:pt>
                <c:pt idx="114">
                  <c:v>110.52</c:v>
                </c:pt>
                <c:pt idx="115">
                  <c:v>105.38</c:v>
                </c:pt>
                <c:pt idx="116">
                  <c:v>101.34</c:v>
                </c:pt>
                <c:pt idx="117">
                  <c:v>99.27</c:v>
                </c:pt>
                <c:pt idx="118">
                  <c:v>90.23</c:v>
                </c:pt>
                <c:pt idx="119">
                  <c:v>90.18</c:v>
                </c:pt>
                <c:pt idx="120">
                  <c:v>88.59</c:v>
                </c:pt>
                <c:pt idx="121">
                  <c:v>88.04</c:v>
                </c:pt>
                <c:pt idx="122">
                  <c:v>91.38</c:v>
                </c:pt>
                <c:pt idx="123">
                  <c:v>85.04</c:v>
                </c:pt>
                <c:pt idx="124">
                  <c:v>85.7</c:v>
                </c:pt>
                <c:pt idx="125">
                  <c:v>85.6</c:v>
                </c:pt>
                <c:pt idx="126">
                  <c:v>91.5</c:v>
                </c:pt>
                <c:pt idx="127">
                  <c:v>91.94</c:v>
                </c:pt>
                <c:pt idx="128">
                  <c:v>89.65</c:v>
                </c:pt>
                <c:pt idx="129">
                  <c:v>91.66</c:v>
                </c:pt>
                <c:pt idx="130">
                  <c:v>107.75</c:v>
                </c:pt>
                <c:pt idx="131">
                  <c:v>120.46</c:v>
                </c:pt>
                <c:pt idx="132">
                  <c:v>138.33</c:v>
                </c:pt>
                <c:pt idx="133">
                  <c:v>154.11</c:v>
                </c:pt>
                <c:pt idx="134">
                  <c:v>156.12</c:v>
                </c:pt>
                <c:pt idx="135">
                  <c:v>157.8</c:v>
                </c:pt>
                <c:pt idx="136">
                  <c:v>153.93</c:v>
                </c:pt>
                <c:pt idx="137">
                  <c:v>164.22</c:v>
                </c:pt>
                <c:pt idx="138">
                  <c:v>159.11</c:v>
                </c:pt>
                <c:pt idx="139">
                  <c:v>161.89</c:v>
                </c:pt>
                <c:pt idx="140">
                  <c:v>152.78</c:v>
                </c:pt>
                <c:pt idx="141">
                  <c:v>156.65</c:v>
                </c:pt>
                <c:pt idx="142">
                  <c:v>150.93</c:v>
                </c:pt>
                <c:pt idx="143">
                  <c:v>138.16</c:v>
                </c:pt>
                <c:pt idx="144">
                  <c:v>135.36</c:v>
                </c:pt>
                <c:pt idx="145">
                  <c:v>141.72</c:v>
                </c:pt>
                <c:pt idx="146">
                  <c:v>140.43</c:v>
                </c:pt>
                <c:pt idx="147">
                  <c:v>140.25</c:v>
                </c:pt>
                <c:pt idx="148">
                  <c:v>141.47</c:v>
                </c:pt>
                <c:pt idx="149">
                  <c:v>134.62</c:v>
                </c:pt>
                <c:pt idx="150">
                  <c:v>139.5</c:v>
                </c:pt>
                <c:pt idx="151">
                  <c:v>135.62</c:v>
                </c:pt>
                <c:pt idx="152">
                  <c:v>149.81</c:v>
                </c:pt>
                <c:pt idx="153">
                  <c:v>141.82</c:v>
                </c:pt>
                <c:pt idx="154">
                  <c:v>151.02</c:v>
                </c:pt>
                <c:pt idx="155">
                  <c:v>151.08</c:v>
                </c:pt>
                <c:pt idx="156">
                  <c:v>148.13</c:v>
                </c:pt>
                <c:pt idx="157">
                  <c:v>153.29</c:v>
                </c:pt>
                <c:pt idx="158">
                  <c:v>153.91</c:v>
                </c:pt>
                <c:pt idx="159">
                  <c:v>145.82</c:v>
                </c:pt>
                <c:pt idx="160">
                  <c:v>145.88</c:v>
                </c:pt>
                <c:pt idx="161">
                  <c:v>142.97</c:v>
                </c:pt>
                <c:pt idx="162">
                  <c:v>135.23</c:v>
                </c:pt>
                <c:pt idx="163">
                  <c:v>130.06</c:v>
                </c:pt>
                <c:pt idx="164">
                  <c:v>124.79</c:v>
                </c:pt>
                <c:pt idx="165">
                  <c:v>120.31</c:v>
                </c:pt>
                <c:pt idx="166">
                  <c:v>93.5</c:v>
                </c:pt>
                <c:pt idx="167">
                  <c:v>91.18</c:v>
                </c:pt>
                <c:pt idx="168">
                  <c:v>86.35</c:v>
                </c:pt>
                <c:pt idx="169">
                  <c:v>88.06</c:v>
                </c:pt>
                <c:pt idx="170">
                  <c:v>86.36</c:v>
                </c:pt>
                <c:pt idx="171">
                  <c:v>85.35</c:v>
                </c:pt>
                <c:pt idx="172">
                  <c:v>84.74</c:v>
                </c:pt>
                <c:pt idx="173">
                  <c:v>90.15</c:v>
                </c:pt>
                <c:pt idx="174">
                  <c:v>95.69</c:v>
                </c:pt>
                <c:pt idx="175">
                  <c:v>90.45</c:v>
                </c:pt>
                <c:pt idx="176">
                  <c:v>92.59</c:v>
                </c:pt>
                <c:pt idx="177">
                  <c:v>92.83</c:v>
                </c:pt>
                <c:pt idx="178">
                  <c:v>142.41</c:v>
                </c:pt>
                <c:pt idx="179">
                  <c:v>135.39</c:v>
                </c:pt>
                <c:pt idx="180">
                  <c:v>164.46</c:v>
                </c:pt>
                <c:pt idx="181">
                  <c:v>164.3</c:v>
                </c:pt>
                <c:pt idx="182">
                  <c:v>176.28</c:v>
                </c:pt>
                <c:pt idx="183">
                  <c:v>181.11</c:v>
                </c:pt>
                <c:pt idx="184">
                  <c:v>179.85</c:v>
                </c:pt>
                <c:pt idx="185">
                  <c:v>181.1</c:v>
                </c:pt>
                <c:pt idx="186">
                  <c:v>167.94</c:v>
                </c:pt>
                <c:pt idx="187">
                  <c:v>159.56</c:v>
                </c:pt>
                <c:pt idx="188">
                  <c:v>155.8</c:v>
                </c:pt>
                <c:pt idx="189">
                  <c:v>139.49</c:v>
                </c:pt>
                <c:pt idx="190">
                  <c:v>134.28</c:v>
                </c:pt>
                <c:pt idx="191">
                  <c:v>129.06</c:v>
                </c:pt>
                <c:pt idx="192">
                  <c:v>128.47</c:v>
                </c:pt>
                <c:pt idx="193">
                  <c:v>128.59</c:v>
                </c:pt>
                <c:pt idx="194">
                  <c:v>137.29</c:v>
                </c:pt>
                <c:pt idx="195">
                  <c:v>129.26</c:v>
                </c:pt>
                <c:pt idx="196">
                  <c:v>123.49</c:v>
                </c:pt>
                <c:pt idx="197">
                  <c:v>120.32</c:v>
                </c:pt>
                <c:pt idx="198">
                  <c:v>118.42</c:v>
                </c:pt>
                <c:pt idx="199">
                  <c:v>114.73</c:v>
                </c:pt>
                <c:pt idx="200">
                  <c:v>118.08</c:v>
                </c:pt>
                <c:pt idx="201">
                  <c:v>117.17</c:v>
                </c:pt>
                <c:pt idx="202">
                  <c:v>124.28</c:v>
                </c:pt>
                <c:pt idx="203">
                  <c:v>138.79</c:v>
                </c:pt>
                <c:pt idx="204">
                  <c:v>133.55</c:v>
                </c:pt>
                <c:pt idx="205">
                  <c:v>140.41</c:v>
                </c:pt>
                <c:pt idx="206">
                  <c:v>118.2</c:v>
                </c:pt>
                <c:pt idx="207">
                  <c:v>133.34</c:v>
                </c:pt>
                <c:pt idx="208">
                  <c:v>115.54</c:v>
                </c:pt>
                <c:pt idx="209">
                  <c:v>119.05</c:v>
                </c:pt>
                <c:pt idx="210">
                  <c:v>130.45</c:v>
                </c:pt>
                <c:pt idx="211">
                  <c:v>124.56</c:v>
                </c:pt>
                <c:pt idx="212">
                  <c:v>122.5</c:v>
                </c:pt>
                <c:pt idx="213">
                  <c:v>122.37</c:v>
                </c:pt>
                <c:pt idx="214">
                  <c:v>132.41</c:v>
                </c:pt>
                <c:pt idx="215">
                  <c:v>128.43</c:v>
                </c:pt>
                <c:pt idx="216">
                  <c:v>126.05</c:v>
                </c:pt>
                <c:pt idx="217">
                  <c:v>123.42</c:v>
                </c:pt>
                <c:pt idx="218">
                  <c:v>123.67</c:v>
                </c:pt>
                <c:pt idx="219">
                  <c:v>119.39</c:v>
                </c:pt>
                <c:pt idx="220">
                  <c:v>116.55</c:v>
                </c:pt>
                <c:pt idx="221">
                  <c:v>120.63</c:v>
                </c:pt>
                <c:pt idx="222">
                  <c:v>128.45</c:v>
                </c:pt>
                <c:pt idx="223">
                  <c:v>128.75</c:v>
                </c:pt>
                <c:pt idx="224">
                  <c:v>121.27</c:v>
                </c:pt>
                <c:pt idx="225">
                  <c:v>103.44</c:v>
                </c:pt>
                <c:pt idx="226">
                  <c:v>151.06</c:v>
                </c:pt>
                <c:pt idx="227">
                  <c:v>151.23</c:v>
                </c:pt>
                <c:pt idx="228">
                  <c:v>203.86</c:v>
                </c:pt>
                <c:pt idx="229">
                  <c:v>226.26</c:v>
                </c:pt>
                <c:pt idx="230">
                  <c:v>214.11</c:v>
                </c:pt>
                <c:pt idx="231">
                  <c:v>203.07</c:v>
                </c:pt>
                <c:pt idx="232">
                  <c:v>167.8</c:v>
                </c:pt>
                <c:pt idx="233">
                  <c:v>164.91</c:v>
                </c:pt>
                <c:pt idx="234">
                  <c:v>146.93</c:v>
                </c:pt>
                <c:pt idx="235">
                  <c:v>143.84</c:v>
                </c:pt>
                <c:pt idx="236">
                  <c:v>140.67</c:v>
                </c:pt>
                <c:pt idx="237">
                  <c:v>136</c:v>
                </c:pt>
                <c:pt idx="238">
                  <c:v>122.41</c:v>
                </c:pt>
                <c:pt idx="239">
                  <c:v>121.79</c:v>
                </c:pt>
                <c:pt idx="240">
                  <c:v>125.22</c:v>
                </c:pt>
                <c:pt idx="241">
                  <c:v>121.68</c:v>
                </c:pt>
                <c:pt idx="242">
                  <c:v>114.83</c:v>
                </c:pt>
                <c:pt idx="243">
                  <c:v>116.34</c:v>
                </c:pt>
                <c:pt idx="244">
                  <c:v>115.93</c:v>
                </c:pt>
                <c:pt idx="245">
                  <c:v>115.67</c:v>
                </c:pt>
                <c:pt idx="246">
                  <c:v>116.89</c:v>
                </c:pt>
                <c:pt idx="247">
                  <c:v>117.16</c:v>
                </c:pt>
                <c:pt idx="248">
                  <c:v>124.92</c:v>
                </c:pt>
                <c:pt idx="249">
                  <c:v>127.63</c:v>
                </c:pt>
                <c:pt idx="250">
                  <c:v>134.69</c:v>
                </c:pt>
                <c:pt idx="251">
                  <c:v>136.46</c:v>
                </c:pt>
                <c:pt idx="252">
                  <c:v>144.82</c:v>
                </c:pt>
                <c:pt idx="253">
                  <c:v>146.34</c:v>
                </c:pt>
                <c:pt idx="254">
                  <c:v>129.23</c:v>
                </c:pt>
                <c:pt idx="255">
                  <c:v>132.35</c:v>
                </c:pt>
                <c:pt idx="256">
                  <c:v>129.17</c:v>
                </c:pt>
                <c:pt idx="257">
                  <c:v>126.33</c:v>
                </c:pt>
                <c:pt idx="258">
                  <c:v>128.01</c:v>
                </c:pt>
                <c:pt idx="259">
                  <c:v>126.81</c:v>
                </c:pt>
                <c:pt idx="260">
                  <c:v>122.56</c:v>
                </c:pt>
                <c:pt idx="261">
                  <c:v>117.34</c:v>
                </c:pt>
                <c:pt idx="262">
                  <c:v>116.69</c:v>
                </c:pt>
                <c:pt idx="263">
                  <c:v>116.56</c:v>
                </c:pt>
                <c:pt idx="264">
                  <c:v>114.89</c:v>
                </c:pt>
                <c:pt idx="265">
                  <c:v>117.78</c:v>
                </c:pt>
                <c:pt idx="266">
                  <c:v>122.49</c:v>
                </c:pt>
                <c:pt idx="267">
                  <c:v>135.23</c:v>
                </c:pt>
                <c:pt idx="268">
                  <c:v>125.16</c:v>
                </c:pt>
                <c:pt idx="269">
                  <c:v>128.73</c:v>
                </c:pt>
                <c:pt idx="270">
                  <c:v>142.61</c:v>
                </c:pt>
                <c:pt idx="271">
                  <c:v>140.52</c:v>
                </c:pt>
                <c:pt idx="272">
                  <c:v>138.87</c:v>
                </c:pt>
                <c:pt idx="273">
                  <c:v>137.58</c:v>
                </c:pt>
                <c:pt idx="274">
                  <c:v>162.14</c:v>
                </c:pt>
                <c:pt idx="275">
                  <c:v>180.55</c:v>
                </c:pt>
                <c:pt idx="276">
                  <c:v>209.8</c:v>
                </c:pt>
                <c:pt idx="277">
                  <c:v>216.15</c:v>
                </c:pt>
                <c:pt idx="278">
                  <c:v>214.28</c:v>
                </c:pt>
                <c:pt idx="279">
                  <c:v>217.84</c:v>
                </c:pt>
                <c:pt idx="280">
                  <c:v>198.45</c:v>
                </c:pt>
                <c:pt idx="281">
                  <c:v>193.6</c:v>
                </c:pt>
                <c:pt idx="282">
                  <c:v>167.64</c:v>
                </c:pt>
                <c:pt idx="283">
                  <c:v>164.14</c:v>
                </c:pt>
                <c:pt idx="284">
                  <c:v>159.12</c:v>
                </c:pt>
                <c:pt idx="285">
                  <c:v>148.19</c:v>
                </c:pt>
                <c:pt idx="286">
                  <c:v>156.16</c:v>
                </c:pt>
                <c:pt idx="287">
                  <c:v>145.63</c:v>
                </c:pt>
                <c:pt idx="288">
                  <c:v>140.91</c:v>
                </c:pt>
                <c:pt idx="289">
                  <c:v>141.01</c:v>
                </c:pt>
                <c:pt idx="290">
                  <c:v>147.37</c:v>
                </c:pt>
                <c:pt idx="291">
                  <c:v>142.65</c:v>
                </c:pt>
                <c:pt idx="292">
                  <c:v>130.17</c:v>
                </c:pt>
                <c:pt idx="293">
                  <c:v>127.54</c:v>
                </c:pt>
                <c:pt idx="294">
                  <c:v>130.28</c:v>
                </c:pt>
                <c:pt idx="295">
                  <c:v>128.55</c:v>
                </c:pt>
                <c:pt idx="296">
                  <c:v>141.13</c:v>
                </c:pt>
                <c:pt idx="297">
                  <c:v>142.54</c:v>
                </c:pt>
                <c:pt idx="298">
                  <c:v>149.02</c:v>
                </c:pt>
                <c:pt idx="299">
                  <c:v>146.86</c:v>
                </c:pt>
                <c:pt idx="300">
                  <c:v>147.92</c:v>
                </c:pt>
                <c:pt idx="301">
                  <c:v>148.43</c:v>
                </c:pt>
                <c:pt idx="302">
                  <c:v>129.94</c:v>
                </c:pt>
                <c:pt idx="303">
                  <c:v>136.01</c:v>
                </c:pt>
                <c:pt idx="304">
                  <c:v>129.53</c:v>
                </c:pt>
                <c:pt idx="305">
                  <c:v>124.95</c:v>
                </c:pt>
                <c:pt idx="306">
                  <c:v>117.48</c:v>
                </c:pt>
                <c:pt idx="307">
                  <c:v>116.52</c:v>
                </c:pt>
                <c:pt idx="308">
                  <c:v>115.52</c:v>
                </c:pt>
                <c:pt idx="309">
                  <c:v>111.58</c:v>
                </c:pt>
                <c:pt idx="310">
                  <c:v>106.34</c:v>
                </c:pt>
                <c:pt idx="311">
                  <c:v>110.82</c:v>
                </c:pt>
                <c:pt idx="312">
                  <c:v>112.37</c:v>
                </c:pt>
                <c:pt idx="313">
                  <c:v>109.15</c:v>
                </c:pt>
                <c:pt idx="314">
                  <c:v>107.43</c:v>
                </c:pt>
                <c:pt idx="315">
                  <c:v>106.44</c:v>
                </c:pt>
                <c:pt idx="316">
                  <c:v>104</c:v>
                </c:pt>
                <c:pt idx="317">
                  <c:v>105.96</c:v>
                </c:pt>
                <c:pt idx="318">
                  <c:v>103.46</c:v>
                </c:pt>
                <c:pt idx="319">
                  <c:v>107.88</c:v>
                </c:pt>
                <c:pt idx="320">
                  <c:v>124.87</c:v>
                </c:pt>
                <c:pt idx="321">
                  <c:v>132.42</c:v>
                </c:pt>
                <c:pt idx="322">
                  <c:v>175.91</c:v>
                </c:pt>
                <c:pt idx="323">
                  <c:v>172.69</c:v>
                </c:pt>
                <c:pt idx="324">
                  <c:v>191.92</c:v>
                </c:pt>
                <c:pt idx="325">
                  <c:v>191.87</c:v>
                </c:pt>
                <c:pt idx="326">
                  <c:v>184.09</c:v>
                </c:pt>
                <c:pt idx="327">
                  <c:v>191.93</c:v>
                </c:pt>
                <c:pt idx="328">
                  <c:v>184.04</c:v>
                </c:pt>
                <c:pt idx="329">
                  <c:v>182.83</c:v>
                </c:pt>
                <c:pt idx="330">
                  <c:v>168.92</c:v>
                </c:pt>
                <c:pt idx="331">
                  <c:v>157.61</c:v>
                </c:pt>
                <c:pt idx="332">
                  <c:v>155.78</c:v>
                </c:pt>
                <c:pt idx="333">
                  <c:v>149.92</c:v>
                </c:pt>
                <c:pt idx="334">
                  <c:v>131.94</c:v>
                </c:pt>
                <c:pt idx="335">
                  <c:v>135.91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C5E62"/>
                </a:solidFill>
                <a:latin typeface="+mn-lt"/>
              </a:defRPr>
            </a:pPr>
            <a:endParaRPr lang="en-US"/>
          </a:p>
        </c:txPr>
        <c:crossAx val="2094734552"/>
        <c:crosses val="autoZero"/>
        <c:auto val="1"/>
        <c:lblAlgn val="ctr"/>
        <c:noMultiLvlLbl val="1"/>
        <c:tickLblSkip val="48"/>
      </c:catAx>
      <c:valAx>
        <c:axId val="2094734552"/>
        <c:scaling>
          <c:orientation val="minMax"/>
        </c:scaling>
        <c:delete val="0"/>
        <c:axPos val="l"/>
        <c:majorGridlines>
          <c:spPr>
            <a:ln w="6350" cap="flat">
              <a:solidFill>
                <a:srgbClr val="D0D1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5E62"/>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5 seconds. Say the one line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25 s. Britain has 8.5 gigawatts of grid batteries and needs three times that by 2030. They make money one way: buy power when it's cheap, sell it when it's dear. Every half hour a rule decides charge, discharge or wait. Last month the average battery earned £99,000 per megawatt. The best one earned 42% more, and Modo says the difference isn't cycling harder, it's trading smarter. One point of capture is about five and a half million pounds a year across the fleet. Today that rule is improved by humans: a quant has an idea, edits the rule, runs a backtest, keeps it or not. Every job ad in this industry describes that loop. Nobody has automated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NOBODY CAN BE COMPARED, 20 s. The industry metric is Percentage of Perfect: your revenue over what perfect foresight would earn. Optimisers quote 60 to 80. But Modo says each one picks its own benchmark or its best backtest. Gridmatic reported 51% realised against a 75% backtest, with baselines undisclosed, and got called a black box for it. So the pitch 'we trade smarter' is unfalsifiable. We built the thing that would make it falsifiable: a fixed evaluator with a walk-forward split, a held-out test window, and the oracle denominator in plain 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EVALUATOR, 35 s. One Python file is the dispatch rule. A sealed simulator replays it against a year of real half-hourly prices from Elexon, with efficiency losses, degradation and power limits inside the simulator so the rule can't misreport. The score is net pounds per megawatt per day with a confidence interval, and Percentage of Perfect against an exact dynamic-programme optimum. The split is by time: the loop only ever scores on train, October to May. Validation, June and July, decides promotion. Test, August to mid-October, is read once. And the rule only ever sees the past: no lookahead, no literal dates, no imports except math, every one enforced by code and tested with a deliberately cheating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AND THE GATE, 25 s. The agent proposes one change to the rule, scores it on train in a fifth of a second, keeps it if it wins, reverts if not, and commits. It ran 249 experiments this evening [placeholder: confirm final count] and kept 39. The seed earned £15 per megawatt per day on train; the loop took it to £32.4. Then the part that matters: gate.py promotes only if the challenger beats the current champion on validation, two months the loop never saw, and then scores it once on test and publishes that number whether we like it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30 s. [Show the table.] Do nothing earns zero. A fixed overnight-charge, evening-sell schedule earns £11 a day on train. The seed percentile rule earned £15. The loop took it to £32.4, half of perfect foresight. On the held-out test window the seed earned £55; the champion earned [placeholder: champion test £/MW/day from gate.py] at [placeholder: test % of perfect]. The industry calls that Percentage of Perfect. Optimisers quote 60 to 80, but every vendor picks its own benchmark. Ours is a five-line dynamic programme anyone can run, and the oracle sits in the same table. Note the later windows were two to three times more volatile than train, which is why we lead with pounds per day and show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15 s. [Show the plot.] This is a week it never trained on. Green is where it charged, red where it sold. It bought the overnight trough and sold the evening peak without being told either exists. [placeholder: confirm the shape of the plot once results/test_week.png exists and adjust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20 s. This runs as a weekly job. Refetch prices, re-run the search on a rolling window, gate on the newest month, open a pull request with the new rule and its report. The quant reviews a diff of forty lines of plain Python, shadow-runs it, switches. Different battery: change one spec file. Different market, ERCOT or Germany: change the fetcher. Different search framework, OpenEvolve, LoongFlow: call the same evaluate command. We built the contract, not the framework, because the contract is what makes it safe to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MODES, 15 s. Six ways this can mislead, all in the README. Regime shift: train is winter, test is late summer. Single market with no forecast feed, so the absolute number is a floor, not what a real desk would earn. Zero market impact at one megawatt. One year of data. A flat degradation cost. And the big one: search overfits backtests. That is the documented failure of LLM-evolved trading strategies, and it is why the loop never touches validation or test. If the validation gain does not hold on test, the table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AND CLOSE, 15 s. Three things next. An OpenEvolve driver behind the same contract, with a forced structurally different proposal every few iterations, because the agent plateaued inside one family of rules. A paired daily acceptance test, so a change has to beat noise, not the mean. And the operator review page: the PR ships a report with the three windows, every confidence interval, the rule as a diff, and the failure modes up front. Close: every optimiser in this market sells 'we trade smarter'. None of them can show you a reproducible number. We can, and the loop that produced it is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71A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97480"/>
            <a:ext cx="7315200" cy="128016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Moonfire Ventures Hack  ·  22 Oct 2026</a:t>
            </a:r>
            <a:endParaRPr lang="en-US" sz="10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chart" Target="../charts/chart1.xml"/><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ttery outline"/>
          <p:cNvSpPr/>
          <p:nvPr/>
        </p:nvSpPr>
        <p:spPr>
          <a:xfrm>
            <a:off x="548640" y="548640"/>
            <a:ext cx="1371600" cy="566928"/>
          </a:xfrm>
          <a:prstGeom prst="roundRect">
            <a:avLst>
              <a:gd name="adj" fmla="val 12903"/>
            </a:avLst>
          </a:prstGeom>
          <a:solidFill>
            <a:srgbClr val="171A20"/>
          </a:solidFill>
          <a:ln w="19050">
            <a:solidFill>
              <a:srgbClr val="FFFFFF"/>
            </a:solidFill>
            <a:prstDash val="solid"/>
          </a:ln>
        </p:spPr>
        <p:txBody>
          <a:bodyPr/>
          <a:p/>
        </p:txBody>
      </p:sp>
      <p:sp>
        <p:nvSpPr>
          <p:cNvPr id="3" name="battery terminal"/>
          <p:cNvSpPr/>
          <p:nvPr/>
        </p:nvSpPr>
        <p:spPr>
          <a:xfrm>
            <a:off x="1938528" y="713232"/>
            <a:ext cx="73152" cy="237744"/>
          </a:xfrm>
          <a:prstGeom prst="rect">
            <a:avLst/>
          </a:prstGeom>
          <a:solidFill>
            <a:srgbClr val="FFFFFF"/>
          </a:solidFill>
          <a:ln w="12700">
            <a:solidFill>
              <a:srgbClr val="FFFFFF"/>
            </a:solidFill>
            <a:prstDash val="solid"/>
          </a:ln>
        </p:spPr>
        <p:txBody>
          <a:bodyPr/>
          <a:p/>
        </p:txBody>
      </p:sp>
      <p:sp>
        <p:nvSpPr>
          <p:cNvPr id="4" name="battery charge"/>
          <p:cNvSpPr/>
          <p:nvPr/>
        </p:nvSpPr>
        <p:spPr>
          <a:xfrm>
            <a:off x="621792" y="621792"/>
            <a:ext cx="868680" cy="420624"/>
          </a:xfrm>
          <a:prstGeom prst="roundRect">
            <a:avLst>
              <a:gd name="adj" fmla="val 10870"/>
            </a:avLst>
          </a:prstGeom>
          <a:solidFill>
            <a:srgbClr val="2A6A4A"/>
          </a:solidFill>
          <a:ln w="12700">
            <a:solidFill>
              <a:srgbClr val="2A6A4A"/>
            </a:solidFill>
            <a:prstDash val="solid"/>
          </a:ln>
        </p:spPr>
        <p:txBody>
          <a:bodyPr/>
          <a:p/>
        </p:txBody>
      </p:sp>
      <p:sp>
        <p:nvSpPr>
          <p:cNvPr id="5" name="Text 0"/>
          <p:cNvSpPr/>
          <p:nvPr>
            <p:ph idx="100" type="title" hasCustomPrompt="1"/>
          </p:nvPr>
        </p:nvSpPr>
        <p:spPr>
          <a:xfrm>
            <a:off x="548640" y="1463040"/>
            <a:ext cx="8046720" cy="1097280"/>
          </a:xfrm>
          <a:prstGeom prst="rect">
            <a:avLst/>
          </a:prstGeom>
          <a:noFill/>
          <a:ln/>
        </p:spPr>
        <p:txBody>
          <a:bodyPr wrap="square" lIns="0" tIns="0" rIns="0" bIns="0" rtlCol="0" anchor="b"/>
          <a:lstStyle/>
          <a:p>
            <a:pPr algn="l" indent="0" marL="0">
              <a:buNone/>
            </a:pPr>
            <a:r>
              <a:rPr lang="en-US" sz="4000" b="1" dirty="0">
                <a:solidFill>
                  <a:schemeClr val="bg1"/>
                </a:solidFill>
              </a:rPr>
              <a:t>Autoresearch for battery dispatch</a:t>
            </a:r>
            <a:endParaRPr lang="en-US" sz="4000" dirty="0"/>
          </a:p>
        </p:txBody>
      </p:sp>
      <p:sp>
        <p:nvSpPr>
          <p:cNvPr id="6" name="Text 0"/>
          <p:cNvSpPr/>
          <p:nvPr>
            <p:ph idx="101" type="body" hasCustomPrompt="1"/>
          </p:nvPr>
        </p:nvSpPr>
        <p:spPr>
          <a:xfrm>
            <a:off x="548640" y="2697480"/>
            <a:ext cx="7315200" cy="1280160"/>
          </a:xfrm>
          <a:prstGeom prst="rect">
            <a:avLst/>
          </a:prstGeom>
          <a:noFill/>
          <a:ln/>
        </p:spPr>
        <p:txBody>
          <a:bodyPr wrap="square" lIns="0" tIns="0" rIns="0" bIns="0" rtlCol="0" anchor="t"/>
          <a:lstStyle/>
          <a:p>
            <a:pPr algn="l" indent="0" marL="0">
              <a:buNone/>
            </a:pPr>
            <a:r>
              <a:rPr lang="en-US" sz="1800" dirty="0">
                <a:solidFill>
                  <a:schemeClr val="accent6"/>
                </a:solidFill>
              </a:rPr>
              <a:t>A search loop rewrites a grid battery's dispatch rule on real GB prices. A gate promotes the new rule only when it wins on months the search never saw.</a:t>
            </a:r>
            <a:endParaRPr lang="en-US" sz="1800" dirty="0"/>
          </a:p>
        </p:txBody>
      </p:sp>
      <p:sp>
        <p:nvSpPr>
          <p:cNvPr id="7" name="Text 5"/>
          <p:cNvSpPr txBox="1"/>
          <p:nvPr/>
        </p:nvSpPr>
        <p:spPr>
          <a:xfrm>
            <a:off x="548640" y="4389120"/>
            <a:ext cx="8046720" cy="320040"/>
          </a:xfrm>
          <a:prstGeom prst="rect">
            <a:avLst/>
          </a:prstGeom>
          <a:noFill/>
          <a:ln/>
        </p:spPr>
        <p:txBody>
          <a:bodyPr wrap="square" lIns="0" tIns="0" rIns="0" bIns="0" rtlCol="0" anchor="ctr"/>
          <a:lstStyle/>
          <a:p>
            <a:pPr indent="0" marL="0">
              <a:buNone/>
            </a:pPr>
            <a:r>
              <a:rPr lang="en-US" sz="1200" dirty="0">
                <a:solidFill>
                  <a:schemeClr val="accent5"/>
                </a:solidFill>
              </a:rPr>
              <a:t>Moonfire Ventures Hack  ·  Cambridge Compute Co.  ·  AIDDA  ·  Build Night, 22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 battery's revenue is its dispatch rule</a:t>
            </a:r>
            <a:endParaRPr lang="en-US" sz="2800" dirty="0"/>
          </a:p>
        </p:txBody>
      </p:sp>
      <p:sp>
        <p:nvSpPr>
          <p:cNvPr id="3" name="stat card 8.5 GW"/>
          <p:cNvSpPr/>
          <p:nvPr/>
        </p:nvSpPr>
        <p:spPr>
          <a:xfrm>
            <a:off x="457200" y="1143000"/>
            <a:ext cx="3931920" cy="1051560"/>
          </a:xfrm>
          <a:prstGeom prst="rect">
            <a:avLst/>
          </a:prstGeom>
          <a:solidFill>
            <a:srgbClr val="F4F4F4"/>
          </a:solidFill>
          <a:ln w="12700">
            <a:solidFill>
              <a:srgbClr val="F4F4F4"/>
            </a:solidFill>
            <a:prstDash val="solid"/>
          </a:ln>
        </p:spPr>
        <p:txBody>
          <a:bodyPr/>
          <a:p/>
        </p:txBody>
      </p:sp>
      <p:sp>
        <p:nvSpPr>
          <p:cNvPr id="4" name="Text 2"/>
          <p:cNvSpPr txBox="1"/>
          <p:nvPr/>
        </p:nvSpPr>
        <p:spPr>
          <a:xfrm>
            <a:off x="640080" y="1252728"/>
            <a:ext cx="1463040" cy="822960"/>
          </a:xfrm>
          <a:prstGeom prst="rect">
            <a:avLst/>
          </a:prstGeom>
          <a:noFill/>
          <a:ln/>
        </p:spPr>
        <p:txBody>
          <a:bodyPr wrap="square" lIns="0" tIns="0" rIns="0" bIns="0" rtlCol="0" anchor="ctr"/>
          <a:lstStyle/>
          <a:p>
            <a:pPr indent="0" marL="0">
              <a:buNone/>
            </a:pPr>
            <a:r>
              <a:rPr lang="en-US" sz="3200" b="1" dirty="0">
                <a:solidFill>
                  <a:schemeClr val="accent1"/>
                </a:solidFill>
                <a:latin typeface="Arial" pitchFamily="34" charset="0"/>
                <a:ea typeface="Arial" pitchFamily="34" charset="-122"/>
                <a:cs typeface="Arial" pitchFamily="34" charset="-120"/>
              </a:rPr>
              <a:t>8.5 GW</a:t>
            </a:r>
            <a:endParaRPr lang="en-US" sz="3200" dirty="0"/>
          </a:p>
        </p:txBody>
      </p:sp>
      <p:sp>
        <p:nvSpPr>
          <p:cNvPr id="5" name="Text 3"/>
          <p:cNvSpPr txBox="1"/>
          <p:nvPr/>
        </p:nvSpPr>
        <p:spPr>
          <a:xfrm>
            <a:off x="2103120" y="1252728"/>
            <a:ext cx="2148840" cy="594360"/>
          </a:xfrm>
          <a:prstGeom prst="rect">
            <a:avLst/>
          </a:prstGeom>
          <a:noFill/>
          <a:ln/>
        </p:spPr>
        <p:txBody>
          <a:bodyPr wrap="square" lIns="0" tIns="0" rIns="0" bIns="0" rtlCol="0" anchor="t"/>
          <a:lstStyle/>
          <a:p>
            <a:pPr indent="0" marL="0">
              <a:buNone/>
            </a:pPr>
            <a:r>
              <a:rPr lang="en-US" sz="1250" dirty="0">
                <a:solidFill>
                  <a:schemeClr val="tx1"/>
                </a:solidFill>
              </a:rPr>
              <a:t>of grid batteries in GB today. NESO needs 23 to 27 GW by 2030.</a:t>
            </a:r>
            <a:endParaRPr lang="en-US" sz="1250" dirty="0"/>
          </a:p>
        </p:txBody>
      </p:sp>
      <p:sp>
        <p:nvSpPr>
          <p:cNvPr id="6" name="Text 4"/>
          <p:cNvSpPr txBox="1"/>
          <p:nvPr/>
        </p:nvSpPr>
        <p:spPr>
          <a:xfrm>
            <a:off x="2103120" y="1892808"/>
            <a:ext cx="2148840" cy="228600"/>
          </a:xfrm>
          <a:prstGeom prst="rect">
            <a:avLst/>
          </a:prstGeom>
          <a:noFill/>
          <a:ln/>
        </p:spPr>
        <p:txBody>
          <a:bodyPr wrap="square" lIns="0" tIns="0" rIns="0" bIns="0" rtlCol="0" anchor="ctr"/>
          <a:lstStyle/>
          <a:p>
            <a:pPr indent="0" marL="0">
              <a:buNone/>
            </a:pPr>
            <a:r>
              <a:rPr lang="en-US" sz="1000" dirty="0">
                <a:solidFill>
                  <a:schemeClr val="accent3"/>
                </a:solidFill>
              </a:rPr>
              <a:t>Modo Q3 2026, NESO</a:t>
            </a:r>
            <a:endParaRPr lang="en-US" sz="1000" dirty="0"/>
          </a:p>
        </p:txBody>
      </p:sp>
      <p:sp>
        <p:nvSpPr>
          <p:cNvPr id="7" name="stat card £99k"/>
          <p:cNvSpPr/>
          <p:nvPr/>
        </p:nvSpPr>
        <p:spPr>
          <a:xfrm>
            <a:off x="457200" y="2331720"/>
            <a:ext cx="3931920" cy="1051560"/>
          </a:xfrm>
          <a:prstGeom prst="rect">
            <a:avLst/>
          </a:prstGeom>
          <a:solidFill>
            <a:srgbClr val="F4F4F4"/>
          </a:solidFill>
          <a:ln w="12700">
            <a:solidFill>
              <a:srgbClr val="F4F4F4"/>
            </a:solidFill>
            <a:prstDash val="solid"/>
          </a:ln>
        </p:spPr>
        <p:txBody>
          <a:bodyPr/>
          <a:p/>
        </p:txBody>
      </p:sp>
      <p:sp>
        <p:nvSpPr>
          <p:cNvPr id="8" name="Text 6"/>
          <p:cNvSpPr txBox="1"/>
          <p:nvPr/>
        </p:nvSpPr>
        <p:spPr>
          <a:xfrm>
            <a:off x="640080" y="2441448"/>
            <a:ext cx="1463040" cy="822960"/>
          </a:xfrm>
          <a:prstGeom prst="rect">
            <a:avLst/>
          </a:prstGeom>
          <a:noFill/>
          <a:ln/>
        </p:spPr>
        <p:txBody>
          <a:bodyPr wrap="square" lIns="0" tIns="0" rIns="0" bIns="0" rtlCol="0" anchor="ctr"/>
          <a:lstStyle/>
          <a:p>
            <a:pPr indent="0" marL="0">
              <a:buNone/>
            </a:pPr>
            <a:r>
              <a:rPr lang="en-US" sz="3200" b="1" dirty="0">
                <a:solidFill>
                  <a:schemeClr val="accent1"/>
                </a:solidFill>
                <a:latin typeface="Arial" pitchFamily="34" charset="0"/>
                <a:ea typeface="Arial" pitchFamily="34" charset="-122"/>
                <a:cs typeface="Arial" pitchFamily="34" charset="-120"/>
              </a:rPr>
              <a:t>£99k</a:t>
            </a:r>
            <a:endParaRPr lang="en-US" sz="3200" dirty="0"/>
          </a:p>
        </p:txBody>
      </p:sp>
      <p:sp>
        <p:nvSpPr>
          <p:cNvPr id="9" name="Text 7"/>
          <p:cNvSpPr txBox="1"/>
          <p:nvPr/>
        </p:nvSpPr>
        <p:spPr>
          <a:xfrm>
            <a:off x="2103120" y="2441448"/>
            <a:ext cx="2148840" cy="594360"/>
          </a:xfrm>
          <a:prstGeom prst="rect">
            <a:avLst/>
          </a:prstGeom>
          <a:noFill/>
          <a:ln/>
        </p:spPr>
        <p:txBody>
          <a:bodyPr wrap="square" lIns="0" tIns="0" rIns="0" bIns="0" rtlCol="0" anchor="t"/>
          <a:lstStyle/>
          <a:p>
            <a:pPr indent="0" marL="0">
              <a:buNone/>
            </a:pPr>
            <a:r>
              <a:rPr lang="en-US" sz="1250" dirty="0">
                <a:solidFill>
                  <a:schemeClr val="tx1"/>
                </a:solidFill>
              </a:rPr>
              <a:t>per MW per year, September 2026. Wholesale arbitrage a record £68k of it.</a:t>
            </a:r>
            <a:endParaRPr lang="en-US" sz="1250" dirty="0"/>
          </a:p>
        </p:txBody>
      </p:sp>
      <p:sp>
        <p:nvSpPr>
          <p:cNvPr id="10" name="Text 8"/>
          <p:cNvSpPr txBox="1"/>
          <p:nvPr/>
        </p:nvSpPr>
        <p:spPr>
          <a:xfrm>
            <a:off x="2103120" y="3081528"/>
            <a:ext cx="2148840" cy="228600"/>
          </a:xfrm>
          <a:prstGeom prst="rect">
            <a:avLst/>
          </a:prstGeom>
          <a:noFill/>
          <a:ln/>
        </p:spPr>
        <p:txBody>
          <a:bodyPr wrap="square" lIns="0" tIns="0" rIns="0" bIns="0" rtlCol="0" anchor="ctr"/>
          <a:lstStyle/>
          <a:p>
            <a:pPr indent="0" marL="0">
              <a:buNone/>
            </a:pPr>
            <a:r>
              <a:rPr lang="en-US" sz="1000" dirty="0">
                <a:solidFill>
                  <a:schemeClr val="accent3"/>
                </a:solidFill>
              </a:rPr>
              <a:t>Modo, Sep 2026</a:t>
            </a:r>
            <a:endParaRPr lang="en-US" sz="1000" dirty="0"/>
          </a:p>
        </p:txBody>
      </p:sp>
      <p:sp>
        <p:nvSpPr>
          <p:cNvPr id="11" name="stat card +42%"/>
          <p:cNvSpPr/>
          <p:nvPr/>
        </p:nvSpPr>
        <p:spPr>
          <a:xfrm>
            <a:off x="457200" y="3520440"/>
            <a:ext cx="3931920" cy="1051560"/>
          </a:xfrm>
          <a:prstGeom prst="rect">
            <a:avLst/>
          </a:prstGeom>
          <a:solidFill>
            <a:srgbClr val="F4F4F4"/>
          </a:solidFill>
          <a:ln w="12700">
            <a:solidFill>
              <a:srgbClr val="F4F4F4"/>
            </a:solidFill>
            <a:prstDash val="solid"/>
          </a:ln>
        </p:spPr>
        <p:txBody>
          <a:bodyPr/>
          <a:p/>
        </p:txBody>
      </p:sp>
      <p:sp>
        <p:nvSpPr>
          <p:cNvPr id="12" name="Text 10"/>
          <p:cNvSpPr txBox="1"/>
          <p:nvPr/>
        </p:nvSpPr>
        <p:spPr>
          <a:xfrm>
            <a:off x="640080" y="3630168"/>
            <a:ext cx="1463040" cy="822960"/>
          </a:xfrm>
          <a:prstGeom prst="rect">
            <a:avLst/>
          </a:prstGeom>
          <a:noFill/>
          <a:ln/>
        </p:spPr>
        <p:txBody>
          <a:bodyPr wrap="square" lIns="0" tIns="0" rIns="0" bIns="0" rtlCol="0" anchor="ctr"/>
          <a:lstStyle/>
          <a:p>
            <a:pPr indent="0" marL="0">
              <a:buNone/>
            </a:pPr>
            <a:r>
              <a:rPr lang="en-US" sz="3200" b="1" dirty="0">
                <a:solidFill>
                  <a:schemeClr val="accent1"/>
                </a:solidFill>
                <a:latin typeface="Arial" pitchFamily="34" charset="0"/>
                <a:ea typeface="Arial" pitchFamily="34" charset="-122"/>
                <a:cs typeface="Arial" pitchFamily="34" charset="-120"/>
              </a:rPr>
              <a:t>+42%</a:t>
            </a:r>
            <a:endParaRPr lang="en-US" sz="3200" dirty="0"/>
          </a:p>
        </p:txBody>
      </p:sp>
      <p:sp>
        <p:nvSpPr>
          <p:cNvPr id="13" name="Text 11"/>
          <p:cNvSpPr txBox="1"/>
          <p:nvPr/>
        </p:nvSpPr>
        <p:spPr>
          <a:xfrm>
            <a:off x="2103120" y="3630168"/>
            <a:ext cx="2148840" cy="594360"/>
          </a:xfrm>
          <a:prstGeom prst="rect">
            <a:avLst/>
          </a:prstGeom>
          <a:noFill/>
          <a:ln/>
        </p:spPr>
        <p:txBody>
          <a:bodyPr wrap="square" lIns="0" tIns="0" rIns="0" bIns="0" rtlCol="0" anchor="t"/>
          <a:lstStyle/>
          <a:p>
            <a:pPr indent="0" marL="0">
              <a:buNone/>
            </a:pPr>
            <a:r>
              <a:rPr lang="en-US" sz="1250" dirty="0">
                <a:solidFill>
                  <a:schemeClr val="tx1"/>
                </a:solidFill>
              </a:rPr>
              <a:t>earned by the best asset over the index. "Trading smarter, not cycling harder."</a:t>
            </a:r>
            <a:endParaRPr lang="en-US" sz="1250" dirty="0"/>
          </a:p>
        </p:txBody>
      </p:sp>
      <p:sp>
        <p:nvSpPr>
          <p:cNvPr id="14" name="Text 12"/>
          <p:cNvSpPr txBox="1"/>
          <p:nvPr/>
        </p:nvSpPr>
        <p:spPr>
          <a:xfrm>
            <a:off x="2103120" y="4270248"/>
            <a:ext cx="2148840" cy="228600"/>
          </a:xfrm>
          <a:prstGeom prst="rect">
            <a:avLst/>
          </a:prstGeom>
          <a:noFill/>
          <a:ln/>
        </p:spPr>
        <p:txBody>
          <a:bodyPr wrap="square" lIns="0" tIns="0" rIns="0" bIns="0" rtlCol="0" anchor="ctr"/>
          <a:lstStyle/>
          <a:p>
            <a:pPr indent="0" marL="0">
              <a:buNone/>
            </a:pPr>
            <a:r>
              <a:rPr lang="en-US" sz="1000" dirty="0">
                <a:solidFill>
                  <a:schemeClr val="accent3"/>
                </a:solidFill>
              </a:rPr>
              <a:t>Modo, Sep 2026</a:t>
            </a:r>
            <a:endParaRPr lang="en-US" sz="1000" dirty="0"/>
          </a:p>
        </p:txBody>
      </p:sp>
      <p:sp>
        <p:nvSpPr>
          <p:cNvPr id="15" name="Text 13"/>
          <p:cNvSpPr txBox="1"/>
          <p:nvPr/>
        </p:nvSpPr>
        <p:spPr>
          <a:xfrm>
            <a:off x="4846320" y="1143000"/>
            <a:ext cx="384048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Today the rule is improved by hand</a:t>
            </a:r>
            <a:endParaRPr lang="en-US" sz="1800" dirty="0"/>
          </a:p>
        </p:txBody>
      </p:sp>
      <p:sp>
        <p:nvSpPr>
          <p:cNvPr id="16" name="step 1"/>
          <p:cNvSpPr/>
          <p:nvPr/>
        </p:nvSpPr>
        <p:spPr>
          <a:xfrm>
            <a:off x="4846320" y="1673352"/>
            <a:ext cx="310896" cy="310896"/>
          </a:xfrm>
          <a:prstGeom prst="ellipse">
            <a:avLst/>
          </a:prstGeom>
          <a:solidFill>
            <a:srgbClr val="171A20"/>
          </a:solidFill>
          <a:ln w="12700">
            <a:solidFill>
              <a:srgbClr val="171A20"/>
            </a:solidFill>
            <a:prstDash val="solid"/>
          </a:ln>
        </p:spPr>
        <p:txBody>
          <a:bodyPr/>
          <a:p/>
        </p:txBody>
      </p:sp>
      <p:sp>
        <p:nvSpPr>
          <p:cNvPr id="17" name="Text 15"/>
          <p:cNvSpPr txBox="1"/>
          <p:nvPr/>
        </p:nvSpPr>
        <p:spPr>
          <a:xfrm>
            <a:off x="4846320" y="167335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8" name="Text 16"/>
          <p:cNvSpPr txBox="1"/>
          <p:nvPr/>
        </p:nvSpPr>
        <p:spPr>
          <a:xfrm>
            <a:off x="5285232" y="1627632"/>
            <a:ext cx="3383280" cy="402336"/>
          </a:xfrm>
          <a:prstGeom prst="rect">
            <a:avLst/>
          </a:prstGeom>
          <a:noFill/>
          <a:ln/>
        </p:spPr>
        <p:txBody>
          <a:bodyPr wrap="square" lIns="0" tIns="0" rIns="0" bIns="0" rtlCol="0" anchor="ctr"/>
          <a:lstStyle/>
          <a:p>
            <a:pPr indent="0" marL="0">
              <a:buNone/>
            </a:pPr>
            <a:r>
              <a:rPr lang="en-US" sz="1400" dirty="0">
                <a:solidFill>
                  <a:schemeClr val="tx1"/>
                </a:solidFill>
              </a:rPr>
              <a:t>A quant has a hypothesis</a:t>
            </a:r>
            <a:endParaRPr lang="en-US" sz="1400" dirty="0"/>
          </a:p>
        </p:txBody>
      </p:sp>
      <p:sp>
        <p:nvSpPr>
          <p:cNvPr id="19" name="step 2"/>
          <p:cNvSpPr/>
          <p:nvPr/>
        </p:nvSpPr>
        <p:spPr>
          <a:xfrm>
            <a:off x="4846320" y="2130552"/>
            <a:ext cx="310896" cy="310896"/>
          </a:xfrm>
          <a:prstGeom prst="ellipse">
            <a:avLst/>
          </a:prstGeom>
          <a:solidFill>
            <a:srgbClr val="171A20"/>
          </a:solidFill>
          <a:ln w="12700">
            <a:solidFill>
              <a:srgbClr val="171A20"/>
            </a:solidFill>
            <a:prstDash val="solid"/>
          </a:ln>
        </p:spPr>
        <p:txBody>
          <a:bodyPr/>
          <a:p/>
        </p:txBody>
      </p:sp>
      <p:sp>
        <p:nvSpPr>
          <p:cNvPr id="20" name="Text 18"/>
          <p:cNvSpPr txBox="1"/>
          <p:nvPr/>
        </p:nvSpPr>
        <p:spPr>
          <a:xfrm>
            <a:off x="4846320" y="213055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1" name="Text 19"/>
          <p:cNvSpPr txBox="1"/>
          <p:nvPr/>
        </p:nvSpPr>
        <p:spPr>
          <a:xfrm>
            <a:off x="5285232" y="2084832"/>
            <a:ext cx="3383280" cy="402336"/>
          </a:xfrm>
          <a:prstGeom prst="rect">
            <a:avLst/>
          </a:prstGeom>
          <a:noFill/>
          <a:ln/>
        </p:spPr>
        <p:txBody>
          <a:bodyPr wrap="square" lIns="0" tIns="0" rIns="0" bIns="0" rtlCol="0" anchor="ctr"/>
          <a:lstStyle/>
          <a:p>
            <a:pPr indent="0" marL="0">
              <a:buNone/>
            </a:pPr>
            <a:r>
              <a:rPr lang="en-US" sz="1400" dirty="0">
                <a:solidFill>
                  <a:schemeClr val="tx1"/>
                </a:solidFill>
              </a:rPr>
              <a:t>Edits the rule or its parameters</a:t>
            </a:r>
            <a:endParaRPr lang="en-US" sz="1400" dirty="0"/>
          </a:p>
        </p:txBody>
      </p:sp>
      <p:sp>
        <p:nvSpPr>
          <p:cNvPr id="22" name="step 3"/>
          <p:cNvSpPr/>
          <p:nvPr/>
        </p:nvSpPr>
        <p:spPr>
          <a:xfrm>
            <a:off x="4846320" y="2587752"/>
            <a:ext cx="310896" cy="310896"/>
          </a:xfrm>
          <a:prstGeom prst="ellipse">
            <a:avLst/>
          </a:prstGeom>
          <a:solidFill>
            <a:srgbClr val="171A20"/>
          </a:solidFill>
          <a:ln w="12700">
            <a:solidFill>
              <a:srgbClr val="171A20"/>
            </a:solidFill>
            <a:prstDash val="solid"/>
          </a:ln>
        </p:spPr>
        <p:txBody>
          <a:bodyPr/>
          <a:p/>
        </p:txBody>
      </p:sp>
      <p:sp>
        <p:nvSpPr>
          <p:cNvPr id="23" name="Text 21"/>
          <p:cNvSpPr txBox="1"/>
          <p:nvPr/>
        </p:nvSpPr>
        <p:spPr>
          <a:xfrm>
            <a:off x="4846320" y="258775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4" name="Text 22"/>
          <p:cNvSpPr txBox="1"/>
          <p:nvPr/>
        </p:nvSpPr>
        <p:spPr>
          <a:xfrm>
            <a:off x="5285232" y="2542032"/>
            <a:ext cx="3383280" cy="402336"/>
          </a:xfrm>
          <a:prstGeom prst="rect">
            <a:avLst/>
          </a:prstGeom>
          <a:noFill/>
          <a:ln/>
        </p:spPr>
        <p:txBody>
          <a:bodyPr wrap="square" lIns="0" tIns="0" rIns="0" bIns="0" rtlCol="0" anchor="ctr"/>
          <a:lstStyle/>
          <a:p>
            <a:pPr indent="0" marL="0">
              <a:buNone/>
            </a:pPr>
            <a:r>
              <a:rPr lang="en-US" sz="1400" dirty="0">
                <a:solidFill>
                  <a:schemeClr val="tx1"/>
                </a:solidFill>
              </a:rPr>
              <a:t>Runs an in-house backtest</a:t>
            </a:r>
            <a:endParaRPr lang="en-US" sz="1400" dirty="0"/>
          </a:p>
        </p:txBody>
      </p:sp>
      <p:sp>
        <p:nvSpPr>
          <p:cNvPr id="25" name="step 4"/>
          <p:cNvSpPr/>
          <p:nvPr/>
        </p:nvSpPr>
        <p:spPr>
          <a:xfrm>
            <a:off x="4846320" y="3044952"/>
            <a:ext cx="310896" cy="310896"/>
          </a:xfrm>
          <a:prstGeom prst="ellipse">
            <a:avLst/>
          </a:prstGeom>
          <a:solidFill>
            <a:srgbClr val="171A20"/>
          </a:solidFill>
          <a:ln w="12700">
            <a:solidFill>
              <a:srgbClr val="171A20"/>
            </a:solidFill>
            <a:prstDash val="solid"/>
          </a:ln>
        </p:spPr>
        <p:txBody>
          <a:bodyPr/>
          <a:p/>
        </p:txBody>
      </p:sp>
      <p:sp>
        <p:nvSpPr>
          <p:cNvPr id="26" name="Text 24"/>
          <p:cNvSpPr txBox="1"/>
          <p:nvPr/>
        </p:nvSpPr>
        <p:spPr>
          <a:xfrm>
            <a:off x="4846320" y="304495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Text 25"/>
          <p:cNvSpPr txBox="1"/>
          <p:nvPr/>
        </p:nvSpPr>
        <p:spPr>
          <a:xfrm>
            <a:off x="5285232" y="2999232"/>
            <a:ext cx="3383280" cy="402336"/>
          </a:xfrm>
          <a:prstGeom prst="rect">
            <a:avLst/>
          </a:prstGeom>
          <a:noFill/>
          <a:ln/>
        </p:spPr>
        <p:txBody>
          <a:bodyPr wrap="square" lIns="0" tIns="0" rIns="0" bIns="0" rtlCol="0" anchor="ctr"/>
          <a:lstStyle/>
          <a:p>
            <a:pPr indent="0" marL="0">
              <a:buNone/>
            </a:pPr>
            <a:r>
              <a:rPr lang="en-US" sz="1400" dirty="0">
                <a:solidFill>
                  <a:schemeClr val="tx1"/>
                </a:solidFill>
              </a:rPr>
              <a:t>Keeps it or reverts, by judgement</a:t>
            </a:r>
            <a:endParaRPr lang="en-US" sz="1400" dirty="0"/>
          </a:p>
        </p:txBody>
      </p:sp>
      <p:sp>
        <p:nvSpPr>
          <p:cNvPr id="28" name="Text 26"/>
          <p:cNvSpPr txBox="1"/>
          <p:nvPr/>
        </p:nvSpPr>
        <p:spPr>
          <a:xfrm>
            <a:off x="4846320" y="3566160"/>
            <a:ext cx="3840480" cy="594360"/>
          </a:xfrm>
          <a:prstGeom prst="rect">
            <a:avLst/>
          </a:prstGeom>
          <a:noFill/>
          <a:ln/>
        </p:spPr>
        <p:txBody>
          <a:bodyPr wrap="square" lIns="0" tIns="0" rIns="0" bIns="0" rtlCol="0" anchor="ctr"/>
          <a:lstStyle/>
          <a:p>
            <a:pPr indent="0" marL="0">
              <a:buNone/>
            </a:pPr>
            <a:r>
              <a:rPr lang="en-US" sz="1250" dirty="0">
                <a:solidFill>
                  <a:schemeClr val="tx2"/>
                </a:solidFill>
              </a:rPr>
              <a:t>Habitat, Entrix, YUSO and Axpo all advertise for this loop. Nobody describes an automated one that is gated out of sample.</a:t>
            </a:r>
            <a:endParaRPr lang="en-US" sz="1250" dirty="0"/>
          </a:p>
        </p:txBody>
      </p:sp>
      <p:sp>
        <p:nvSpPr>
          <p:cNvPr id="29" name="Text 27"/>
          <p:cNvSpPr txBox="1"/>
          <p:nvPr/>
        </p:nvSpPr>
        <p:spPr>
          <a:xfrm>
            <a:off x="4846320" y="4160520"/>
            <a:ext cx="3840480" cy="502920"/>
          </a:xfrm>
          <a:prstGeom prst="rect">
            <a:avLst/>
          </a:prstGeom>
          <a:noFill/>
          <a:ln/>
        </p:spPr>
        <p:txBody>
          <a:bodyPr wrap="square" lIns="0" tIns="0" rIns="0" bIns="0" rtlCol="0" anchor="ctr"/>
          <a:lstStyle/>
          <a:p>
            <a:pPr indent="0" marL="0">
              <a:buNone/>
            </a:pPr>
            <a:r>
              <a:rPr lang="en-US" sz="1250" i="1" dirty="0">
                <a:solidFill>
                  <a:schemeClr val="accent1"/>
                </a:solidFill>
              </a:rPr>
              <a:t>One percentage point of capture is worth about £5.5m a year across the GB fleet (our estimate from Modo figures).</a:t>
            </a:r>
            <a:endParaRPr lang="en-US" sz="125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"We trade smarter": nobody can prove it</a:t>
            </a:r>
            <a:endParaRPr lang="en-US" sz="2800" dirty="0"/>
          </a:p>
        </p:txBody>
      </p:sp>
      <p:sp>
        <p:nvSpPr>
          <p:cNvPr id="3" name="FiEyeOff icon"/>
          <p:cNvSpPr/>
          <p:nvPr/>
        </p:nvSpPr>
        <p:spPr>
          <a:xfrm>
            <a:off x="457200" y="1188720"/>
            <a:ext cx="457200" cy="457200"/>
          </a:xfrm>
          <a:prstGeom prst="ellipse">
            <a:avLst/>
          </a:prstGeom>
          <a:solidFill>
            <a:srgbClr val="FBE9E7"/>
          </a:solidFill>
          <a:ln w="12700">
            <a:solidFill>
              <a:srgbClr val="FBE9E7"/>
            </a:solidFill>
            <a:prstDash val="solid"/>
          </a:ln>
        </p:spPr>
        <p:txBody>
          <a:bodyPr/>
          <a:p/>
        </p:txBody>
      </p:sp>
      <p:pic>
        <p:nvPicPr>
          <p:cNvPr id="4" name="FiEyeOff" descr="preencoded.png">    </p:cNvPr>
          <p:cNvPicPr>
            <a:picLocks noChangeAspect="1"/>
          </p:cNvPicPr>
          <p:nvPr/>
        </p:nvPicPr>
        <p:blipFill>
          <a:blip r:embed="rId1"/>
          <a:stretch>
            <a:fillRect/>
          </a:stretch>
        </p:blipFill>
        <p:spPr>
          <a:xfrm>
            <a:off x="571500" y="1303020"/>
            <a:ext cx="228600" cy="228600"/>
          </a:xfrm>
          <a:prstGeom prst="rect">
            <a:avLst/>
          </a:prstGeom>
        </p:spPr>
      </p:pic>
      <p:sp>
        <p:nvSpPr>
          <p:cNvPr id="5" name="Text 2"/>
          <p:cNvSpPr txBox="1"/>
          <p:nvPr/>
        </p:nvSpPr>
        <p:spPr>
          <a:xfrm>
            <a:off x="1051560" y="1143000"/>
            <a:ext cx="3566160" cy="292608"/>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Gridmatic</a:t>
            </a:r>
            <a:endParaRPr lang="en-US" sz="1500" dirty="0"/>
          </a:p>
        </p:txBody>
      </p:sp>
      <p:sp>
        <p:nvSpPr>
          <p:cNvPr id="6" name="Text 3"/>
          <p:cNvSpPr txBox="1"/>
          <p:nvPr/>
        </p:nvSpPr>
        <p:spPr>
          <a:xfrm>
            <a:off x="1051560" y="1444752"/>
            <a:ext cx="3566160" cy="777240"/>
          </a:xfrm>
          <a:prstGeom prst="rect">
            <a:avLst/>
          </a:prstGeom>
          <a:noFill/>
          <a:ln/>
        </p:spPr>
        <p:txBody>
          <a:bodyPr wrap="square" lIns="0" tIns="0" rIns="0" bIns="0" rtlCol="0" anchor="ctr"/>
          <a:lstStyle/>
          <a:p>
            <a:pPr indent="0" marL="0">
              <a:buNone/>
            </a:pPr>
            <a:r>
              <a:rPr lang="en-US" sz="1200" dirty="0">
                <a:solidFill>
                  <a:schemeClr val="tx2"/>
                </a:solidFill>
              </a:rPr>
              <a:t>Reported 51% of "theoretical potential" in 2022 while its backtest reached about 75%. Baselines undisclosed. Criticised as a black box.</a:t>
            </a:r>
            <a:endParaRPr lang="en-US" sz="1200" dirty="0"/>
          </a:p>
        </p:txBody>
      </p:sp>
      <p:sp>
        <p:nvSpPr>
          <p:cNvPr id="7" name="FiCopy icon"/>
          <p:cNvSpPr/>
          <p:nvPr/>
        </p:nvSpPr>
        <p:spPr>
          <a:xfrm>
            <a:off x="457200" y="2331720"/>
            <a:ext cx="457200" cy="457200"/>
          </a:xfrm>
          <a:prstGeom prst="ellipse">
            <a:avLst/>
          </a:prstGeom>
          <a:solidFill>
            <a:srgbClr val="FBE9E7"/>
          </a:solidFill>
          <a:ln w="12700">
            <a:solidFill>
              <a:srgbClr val="FBE9E7"/>
            </a:solidFill>
            <a:prstDash val="solid"/>
          </a:ln>
        </p:spPr>
        <p:txBody>
          <a:bodyPr/>
          <a:p/>
        </p:txBody>
      </p:sp>
      <p:pic>
        <p:nvPicPr>
          <p:cNvPr id="8" name="FiCopy" descr="preencoded.png">    </p:cNvPr>
          <p:cNvPicPr>
            <a:picLocks noChangeAspect="1"/>
          </p:cNvPicPr>
          <p:nvPr/>
        </p:nvPicPr>
        <p:blipFill>
          <a:blip r:embed="rId2"/>
          <a:stretch>
            <a:fillRect/>
          </a:stretch>
        </p:blipFill>
        <p:spPr>
          <a:xfrm>
            <a:off x="571500" y="2446020"/>
            <a:ext cx="228600" cy="228600"/>
          </a:xfrm>
          <a:prstGeom prst="rect">
            <a:avLst/>
          </a:prstGeom>
        </p:spPr>
      </p:pic>
      <p:sp>
        <p:nvSpPr>
          <p:cNvPr id="9" name="Text 5"/>
          <p:cNvSpPr txBox="1"/>
          <p:nvPr/>
        </p:nvSpPr>
        <p:spPr>
          <a:xfrm>
            <a:off x="1051560" y="2286000"/>
            <a:ext cx="3566160" cy="292608"/>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Modo on the industry</a:t>
            </a:r>
            <a:endParaRPr lang="en-US" sz="1500" dirty="0"/>
          </a:p>
        </p:txBody>
      </p:sp>
      <p:sp>
        <p:nvSpPr>
          <p:cNvPr id="10" name="Text 6"/>
          <p:cNvSpPr txBox="1"/>
          <p:nvPr/>
        </p:nvSpPr>
        <p:spPr>
          <a:xfrm>
            <a:off x="1051560" y="2587752"/>
            <a:ext cx="3566160" cy="777240"/>
          </a:xfrm>
          <a:prstGeom prst="rect">
            <a:avLst/>
          </a:prstGeom>
          <a:noFill/>
          <a:ln/>
        </p:spPr>
        <p:txBody>
          <a:bodyPr wrap="square" lIns="0" tIns="0" rIns="0" bIns="0" rtlCol="0" anchor="ctr"/>
          <a:lstStyle/>
          <a:p>
            <a:pPr indent="0" marL="0">
              <a:buNone/>
            </a:pPr>
            <a:r>
              <a:rPr lang="en-US" sz="1200" dirty="0">
                <a:solidFill>
                  <a:schemeClr val="tx2"/>
                </a:solidFill>
              </a:rPr>
              <a:t>Optimisers compare themselves to "a theoretical perfect battery, or run a back-test and pick the best result". Modo haircuts perfect foresight by 15 to 25% to match reality.</a:t>
            </a:r>
            <a:endParaRPr lang="en-US" sz="1200" dirty="0"/>
          </a:p>
        </p:txBody>
      </p:sp>
      <p:sp>
        <p:nvSpPr>
          <p:cNvPr id="11" name="FiActivity icon"/>
          <p:cNvSpPr/>
          <p:nvPr/>
        </p:nvSpPr>
        <p:spPr>
          <a:xfrm>
            <a:off x="457200" y="3474720"/>
            <a:ext cx="457200" cy="457200"/>
          </a:xfrm>
          <a:prstGeom prst="ellipse">
            <a:avLst/>
          </a:prstGeom>
          <a:solidFill>
            <a:srgbClr val="FBE9E7"/>
          </a:solidFill>
          <a:ln w="12700">
            <a:solidFill>
              <a:srgbClr val="FBE9E7"/>
            </a:solidFill>
            <a:prstDash val="solid"/>
          </a:ln>
        </p:spPr>
        <p:txBody>
          <a:bodyPr/>
          <a:p/>
        </p:txBody>
      </p:sp>
      <p:pic>
        <p:nvPicPr>
          <p:cNvPr id="12" name="FiActivity" descr="preencoded.png">    </p:cNvPr>
          <p:cNvPicPr>
            <a:picLocks noChangeAspect="1"/>
          </p:cNvPicPr>
          <p:nvPr/>
        </p:nvPicPr>
        <p:blipFill>
          <a:blip r:embed="rId3"/>
          <a:stretch>
            <a:fillRect/>
          </a:stretch>
        </p:blipFill>
        <p:spPr>
          <a:xfrm>
            <a:off x="571500" y="3589020"/>
            <a:ext cx="228600" cy="228600"/>
          </a:xfrm>
          <a:prstGeom prst="rect">
            <a:avLst/>
          </a:prstGeom>
        </p:spPr>
      </p:pic>
      <p:sp>
        <p:nvSpPr>
          <p:cNvPr id="13" name="Text 8"/>
          <p:cNvSpPr txBox="1"/>
          <p:nvPr/>
        </p:nvSpPr>
        <p:spPr>
          <a:xfrm>
            <a:off x="1051560" y="3429000"/>
            <a:ext cx="3566160" cy="292608"/>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Percentage of Perfect</a:t>
            </a:r>
            <a:endParaRPr lang="en-US" sz="1500" dirty="0"/>
          </a:p>
        </p:txBody>
      </p:sp>
      <p:sp>
        <p:nvSpPr>
          <p:cNvPr id="14" name="Text 9"/>
          <p:cNvSpPr txBox="1"/>
          <p:nvPr/>
        </p:nvSpPr>
        <p:spPr>
          <a:xfrm>
            <a:off x="1051560" y="3730752"/>
            <a:ext cx="3566160" cy="777240"/>
          </a:xfrm>
          <a:prstGeom prst="rect">
            <a:avLst/>
          </a:prstGeom>
          <a:noFill/>
          <a:ln/>
        </p:spPr>
        <p:txBody>
          <a:bodyPr wrap="square" lIns="0" tIns="0" rIns="0" bIns="0" rtlCol="0" anchor="ctr"/>
          <a:lstStyle/>
          <a:p>
            <a:pPr indent="0" marL="0">
              <a:buNone/>
            </a:pPr>
            <a:r>
              <a:rPr lang="en-US" sz="1200" dirty="0">
                <a:solidFill>
                  <a:schemeClr val="tx2"/>
                </a:solidFill>
              </a:rPr>
              <a:t>The industry metric: revenue over the perfect-foresight maximum. Developers assume 80 to 90%. Observed optimisers land at 60 to 80%, with wide spread.</a:t>
            </a:r>
            <a:endParaRPr lang="en-US" sz="1200" dirty="0"/>
          </a:p>
        </p:txBody>
      </p:sp>
      <p:sp>
        <p:nvSpPr>
          <p:cNvPr id="15" name="credible number card"/>
          <p:cNvSpPr/>
          <p:nvPr/>
        </p:nvSpPr>
        <p:spPr>
          <a:xfrm>
            <a:off x="5029200" y="1143000"/>
            <a:ext cx="3657600" cy="3429000"/>
          </a:xfrm>
          <a:prstGeom prst="rect">
            <a:avLst/>
          </a:prstGeom>
          <a:solidFill>
            <a:srgbClr val="171A20"/>
          </a:solidFill>
          <a:ln w="12700">
            <a:solidFill>
              <a:srgbClr val="171A20"/>
            </a:solidFill>
            <a:prstDash val="solid"/>
          </a:ln>
        </p:spPr>
        <p:txBody>
          <a:bodyPr/>
          <a:p/>
        </p:txBody>
      </p:sp>
      <p:sp>
        <p:nvSpPr>
          <p:cNvPr id="16" name="Text 11"/>
          <p:cNvSpPr txBox="1"/>
          <p:nvPr/>
        </p:nvSpPr>
        <p:spPr>
          <a:xfrm>
            <a:off x="5303520" y="1325880"/>
            <a:ext cx="3200400" cy="36576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What a credible number needs</a:t>
            </a:r>
            <a:endParaRPr lang="en-US" sz="1700" dirty="0"/>
          </a:p>
        </p:txBody>
      </p:sp>
      <p:sp>
        <p:nvSpPr>
          <p:cNvPr id="17" name="credible number list"/>
          <p:cNvSpPr txBox="1"/>
          <p:nvPr/>
        </p:nvSpPr>
        <p:spPr>
          <a:xfrm>
            <a:off x="5303520" y="1783080"/>
            <a:ext cx="3200400" cy="26517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accent6"/>
                </a:solidFill>
              </a:rPr>
              <a:t>A fixed evaluator anyone can run</a:t>
            </a:r>
            <a:endParaRPr lang="en-US" sz="1350" dirty="0"/>
          </a:p>
          <a:p>
            <a:pPr marL="342900" indent="-342900">
              <a:spcAft>
                <a:spcPts val="600"/>
              </a:spcAft>
              <a:buSzPct val="100000"/>
              <a:buChar char="■"/>
            </a:pPr>
            <a:r>
              <a:rPr lang="en-US" sz="1350" dirty="0">
                <a:solidFill>
                  <a:schemeClr val="accent6"/>
                </a:solidFill>
              </a:rPr>
              <a:t>The oracle denominator printed next to every score</a:t>
            </a:r>
            <a:endParaRPr lang="en-US" sz="1350" dirty="0"/>
          </a:p>
          <a:p>
            <a:pPr marL="342900" indent="-342900">
              <a:spcAft>
                <a:spcPts val="600"/>
              </a:spcAft>
              <a:buSzPct val="100000"/>
              <a:buChar char="■"/>
            </a:pPr>
            <a:r>
              <a:rPr lang="en-US" sz="1350" dirty="0">
                <a:solidFill>
                  <a:schemeClr val="accent6"/>
                </a:solidFill>
              </a:rPr>
              <a:t>A walk-forward split with its dates shown</a:t>
            </a:r>
            <a:endParaRPr lang="en-US" sz="1350" dirty="0"/>
          </a:p>
          <a:p>
            <a:pPr marL="342900" indent="-342900">
              <a:spcAft>
                <a:spcPts val="600"/>
              </a:spcAft>
              <a:buSzPct val="100000"/>
              <a:buChar char="■"/>
            </a:pPr>
            <a:r>
              <a:rPr lang="en-US" sz="1350" dirty="0">
                <a:solidFill>
                  <a:schemeClr val="accent6"/>
                </a:solidFill>
              </a:rPr>
              <a:t>A test window read exactly once</a:t>
            </a:r>
            <a:endParaRPr lang="en-US" sz="1350" dirty="0"/>
          </a:p>
          <a:p>
            <a:pPr marL="342900" indent="-342900">
              <a:spcAft>
                <a:spcPts val="600"/>
              </a:spcAft>
              <a:buSzPct val="100000"/>
              <a:buChar char="■"/>
            </a:pPr>
            <a:r>
              <a:rPr lang="en-US" sz="1350" dirty="0">
                <a:solidFill>
                  <a:schemeClr val="accent6"/>
                </a:solidFill>
              </a:rPr>
              <a:t>Baselines in the same table</a:t>
            </a:r>
            <a:endParaRPr lang="en-US" sz="1350" dirty="0"/>
          </a:p>
          <a:p>
            <a:pPr marL="342900" indent="-342900">
              <a:spcAft>
                <a:spcPts val="600"/>
              </a:spcAft>
              <a:buSzPct val="100000"/>
              <a:buChar char="■"/>
            </a:pPr>
            <a:r>
              <a:rPr lang="en-US" sz="1350" dirty="0">
                <a:solidFill>
                  <a:schemeClr val="accent6"/>
                </a:solidFill>
              </a:rPr>
              <a:t>A confidence interval on every £</a:t>
            </a:r>
            <a:endParaRPr lang="en-US" sz="135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One command scores any rule out of sample</a:t>
            </a:r>
            <a:endParaRPr lang="en-US" sz="2800" dirty="0"/>
          </a:p>
        </p:txBody>
      </p:sp>
      <p:sp>
        <p:nvSpPr>
          <p:cNvPr id="3" name="window TRAIN"/>
          <p:cNvSpPr/>
          <p:nvPr/>
        </p:nvSpPr>
        <p:spPr>
          <a:xfrm>
            <a:off x="457200" y="1097280"/>
            <a:ext cx="3785616" cy="384048"/>
          </a:xfrm>
          <a:prstGeom prst="rect">
            <a:avLst/>
          </a:prstGeom>
          <a:solidFill>
            <a:srgbClr val="77808A"/>
          </a:solidFill>
          <a:ln w="12700">
            <a:solidFill>
              <a:srgbClr val="77808A"/>
            </a:solidFill>
            <a:prstDash val="solid"/>
          </a:ln>
        </p:spPr>
        <p:txBody>
          <a:bodyPr/>
          <a:p/>
        </p:txBody>
      </p:sp>
      <p:sp>
        <p:nvSpPr>
          <p:cNvPr id="4" name="Text 2"/>
          <p:cNvSpPr txBox="1"/>
          <p:nvPr/>
        </p:nvSpPr>
        <p:spPr>
          <a:xfrm>
            <a:off x="566928" y="1097280"/>
            <a:ext cx="3566160" cy="384048"/>
          </a:xfrm>
          <a:prstGeom prst="rect">
            <a:avLst/>
          </a:prstGeom>
          <a:noFill/>
          <a:ln/>
        </p:spPr>
        <p:txBody>
          <a:bodyPr wrap="square" lIns="0" tIns="0" rIns="0" bIns="0" rtlCol="0" anchor="ctr"/>
          <a:lstStyle/>
          <a:p>
            <a:pPr indent="0" marL="0">
              <a:buNone/>
            </a:pPr>
            <a:r>
              <a:rPr lang="en-US" sz="1300" b="1" dirty="0">
                <a:solidFill>
                  <a:schemeClr val="bg1"/>
                </a:solidFill>
                <a:latin typeface="Arial" pitchFamily="34" charset="0"/>
                <a:ea typeface="Arial" pitchFamily="34" charset="-122"/>
                <a:cs typeface="Arial" pitchFamily="34" charset="-120"/>
              </a:rPr>
              <a:t>TRAIN</a:t>
            </a:r>
            <a:endParaRPr lang="en-US" sz="1300" dirty="0"/>
          </a:p>
        </p:txBody>
      </p:sp>
      <p:sp>
        <p:nvSpPr>
          <p:cNvPr id="5" name="Text 3"/>
          <p:cNvSpPr txBox="1"/>
          <p:nvPr/>
        </p:nvSpPr>
        <p:spPr>
          <a:xfrm>
            <a:off x="457200" y="1536192"/>
            <a:ext cx="3785616" cy="228600"/>
          </a:xfrm>
          <a:prstGeom prst="rect">
            <a:avLst/>
          </a:prstGeom>
          <a:noFill/>
          <a:ln/>
        </p:spPr>
        <p:txBody>
          <a:bodyPr wrap="square" lIns="0" tIns="0" rIns="0" bIns="0" rtlCol="0" anchor="ctr"/>
          <a:lstStyle/>
          <a:p>
            <a:pPr indent="0" marL="0">
              <a:buNone/>
            </a:pPr>
            <a:r>
              <a:rPr lang="en-US" sz="1150" b="1" dirty="0">
                <a:solidFill>
                  <a:schemeClr val="tx1"/>
                </a:solidFill>
              </a:rPr>
              <a:t>2 Oct 2025 to 31 May 2026</a:t>
            </a:r>
            <a:endParaRPr lang="en-US" sz="1150" dirty="0"/>
          </a:p>
        </p:txBody>
      </p:sp>
      <p:sp>
        <p:nvSpPr>
          <p:cNvPr id="6" name="Text 4"/>
          <p:cNvSpPr txBox="1"/>
          <p:nvPr/>
        </p:nvSpPr>
        <p:spPr>
          <a:xfrm>
            <a:off x="457200" y="1755648"/>
            <a:ext cx="3785616" cy="228600"/>
          </a:xfrm>
          <a:prstGeom prst="rect">
            <a:avLst/>
          </a:prstGeom>
          <a:noFill/>
          <a:ln/>
        </p:spPr>
        <p:txBody>
          <a:bodyPr wrap="square" lIns="0" tIns="0" rIns="0" bIns="0" rtlCol="0" anchor="ctr"/>
          <a:lstStyle/>
          <a:p>
            <a:pPr indent="0" marL="0">
              <a:buNone/>
            </a:pPr>
            <a:r>
              <a:rPr lang="en-US" sz="1100" dirty="0">
                <a:solidFill>
                  <a:schemeClr val="accent3"/>
                </a:solidFill>
              </a:rPr>
              <a:t>242 days  ·  the loop's only score</a:t>
            </a:r>
            <a:endParaRPr lang="en-US" sz="1100" dirty="0"/>
          </a:p>
        </p:txBody>
      </p:sp>
      <p:sp>
        <p:nvSpPr>
          <p:cNvPr id="7" name="window VAL"/>
          <p:cNvSpPr/>
          <p:nvPr/>
        </p:nvSpPr>
        <p:spPr>
          <a:xfrm>
            <a:off x="4297680" y="1097280"/>
            <a:ext cx="2048256" cy="384048"/>
          </a:xfrm>
          <a:prstGeom prst="rect">
            <a:avLst/>
          </a:prstGeom>
          <a:solidFill>
            <a:srgbClr val="2A6A4A"/>
          </a:solidFill>
          <a:ln w="12700">
            <a:solidFill>
              <a:srgbClr val="2A6A4A"/>
            </a:solidFill>
            <a:prstDash val="solid"/>
          </a:ln>
        </p:spPr>
        <p:txBody>
          <a:bodyPr/>
          <a:p/>
        </p:txBody>
      </p:sp>
      <p:sp>
        <p:nvSpPr>
          <p:cNvPr id="8" name="Text 6"/>
          <p:cNvSpPr txBox="1"/>
          <p:nvPr/>
        </p:nvSpPr>
        <p:spPr>
          <a:xfrm>
            <a:off x="4407408" y="1097280"/>
            <a:ext cx="1828800" cy="384048"/>
          </a:xfrm>
          <a:prstGeom prst="rect">
            <a:avLst/>
          </a:prstGeom>
          <a:noFill/>
          <a:ln/>
        </p:spPr>
        <p:txBody>
          <a:bodyPr wrap="square" lIns="0" tIns="0" rIns="0" bIns="0" rtlCol="0" anchor="ctr"/>
          <a:lstStyle/>
          <a:p>
            <a:pPr indent="0" marL="0">
              <a:buNone/>
            </a:pPr>
            <a:r>
              <a:rPr lang="en-US" sz="1300" b="1" dirty="0">
                <a:solidFill>
                  <a:schemeClr val="bg1"/>
                </a:solidFill>
                <a:latin typeface="Arial" pitchFamily="34" charset="0"/>
                <a:ea typeface="Arial" pitchFamily="34" charset="-122"/>
                <a:cs typeface="Arial" pitchFamily="34" charset="-120"/>
              </a:rPr>
              <a:t>VAL</a:t>
            </a:r>
            <a:endParaRPr lang="en-US" sz="1300" dirty="0"/>
          </a:p>
        </p:txBody>
      </p:sp>
      <p:sp>
        <p:nvSpPr>
          <p:cNvPr id="9" name="Text 7"/>
          <p:cNvSpPr txBox="1"/>
          <p:nvPr/>
        </p:nvSpPr>
        <p:spPr>
          <a:xfrm>
            <a:off x="4297680" y="1536192"/>
            <a:ext cx="2048256" cy="228600"/>
          </a:xfrm>
          <a:prstGeom prst="rect">
            <a:avLst/>
          </a:prstGeom>
          <a:noFill/>
          <a:ln/>
        </p:spPr>
        <p:txBody>
          <a:bodyPr wrap="square" lIns="0" tIns="0" rIns="0" bIns="0" rtlCol="0" anchor="ctr"/>
          <a:lstStyle/>
          <a:p>
            <a:pPr indent="0" marL="0">
              <a:buNone/>
            </a:pPr>
            <a:r>
              <a:rPr lang="en-US" sz="1150" b="1" dirty="0">
                <a:solidFill>
                  <a:schemeClr val="tx1"/>
                </a:solidFill>
              </a:rPr>
              <a:t>1 Jun to 31 Jul 2026</a:t>
            </a:r>
            <a:endParaRPr lang="en-US" sz="1150" dirty="0"/>
          </a:p>
        </p:txBody>
      </p:sp>
      <p:sp>
        <p:nvSpPr>
          <p:cNvPr id="10" name="Text 8"/>
          <p:cNvSpPr txBox="1"/>
          <p:nvPr/>
        </p:nvSpPr>
        <p:spPr>
          <a:xfrm>
            <a:off x="4297680" y="1755648"/>
            <a:ext cx="2048256" cy="228600"/>
          </a:xfrm>
          <a:prstGeom prst="rect">
            <a:avLst/>
          </a:prstGeom>
          <a:noFill/>
          <a:ln/>
        </p:spPr>
        <p:txBody>
          <a:bodyPr wrap="square" lIns="0" tIns="0" rIns="0" bIns="0" rtlCol="0" anchor="ctr"/>
          <a:lstStyle/>
          <a:p>
            <a:pPr indent="0" marL="0">
              <a:buNone/>
            </a:pPr>
            <a:r>
              <a:rPr lang="en-US" sz="1100" dirty="0">
                <a:solidFill>
                  <a:schemeClr val="accent3"/>
                </a:solidFill>
              </a:rPr>
              <a:t>61 days  ·  promotion gate only</a:t>
            </a:r>
            <a:endParaRPr lang="en-US" sz="1100" dirty="0"/>
          </a:p>
        </p:txBody>
      </p:sp>
      <p:sp>
        <p:nvSpPr>
          <p:cNvPr id="11" name="window TEST"/>
          <p:cNvSpPr/>
          <p:nvPr/>
        </p:nvSpPr>
        <p:spPr>
          <a:xfrm>
            <a:off x="6400800" y="1097280"/>
            <a:ext cx="2231136" cy="384048"/>
          </a:xfrm>
          <a:prstGeom prst="rect">
            <a:avLst/>
          </a:prstGeom>
          <a:solidFill>
            <a:srgbClr val="171A20"/>
          </a:solidFill>
          <a:ln w="12700">
            <a:solidFill>
              <a:srgbClr val="171A20"/>
            </a:solidFill>
            <a:prstDash val="solid"/>
          </a:ln>
        </p:spPr>
        <p:txBody>
          <a:bodyPr/>
          <a:p/>
        </p:txBody>
      </p:sp>
      <p:sp>
        <p:nvSpPr>
          <p:cNvPr id="12" name="Text 10"/>
          <p:cNvSpPr txBox="1"/>
          <p:nvPr/>
        </p:nvSpPr>
        <p:spPr>
          <a:xfrm>
            <a:off x="6510528" y="1097280"/>
            <a:ext cx="2011680" cy="384048"/>
          </a:xfrm>
          <a:prstGeom prst="rect">
            <a:avLst/>
          </a:prstGeom>
          <a:noFill/>
          <a:ln/>
        </p:spPr>
        <p:txBody>
          <a:bodyPr wrap="square" lIns="0" tIns="0" rIns="0" bIns="0" rtlCol="0" anchor="ctr"/>
          <a:lstStyle/>
          <a:p>
            <a:pPr indent="0" marL="0">
              <a:buNone/>
            </a:pPr>
            <a:r>
              <a:rPr lang="en-US" sz="1300" b="1" dirty="0">
                <a:solidFill>
                  <a:schemeClr val="bg1"/>
                </a:solidFill>
                <a:latin typeface="Arial" pitchFamily="34" charset="0"/>
                <a:ea typeface="Arial" pitchFamily="34" charset="-122"/>
                <a:cs typeface="Arial" pitchFamily="34" charset="-120"/>
              </a:rPr>
              <a:t>TEST</a:t>
            </a:r>
            <a:endParaRPr lang="en-US" sz="1300" dirty="0"/>
          </a:p>
        </p:txBody>
      </p:sp>
      <p:sp>
        <p:nvSpPr>
          <p:cNvPr id="13" name="Text 11"/>
          <p:cNvSpPr txBox="1"/>
          <p:nvPr/>
        </p:nvSpPr>
        <p:spPr>
          <a:xfrm>
            <a:off x="6400800" y="1536192"/>
            <a:ext cx="2231136" cy="228600"/>
          </a:xfrm>
          <a:prstGeom prst="rect">
            <a:avLst/>
          </a:prstGeom>
          <a:noFill/>
          <a:ln/>
        </p:spPr>
        <p:txBody>
          <a:bodyPr wrap="square" lIns="0" tIns="0" rIns="0" bIns="0" rtlCol="0" anchor="ctr"/>
          <a:lstStyle/>
          <a:p>
            <a:pPr indent="0" marL="0">
              <a:buNone/>
            </a:pPr>
            <a:r>
              <a:rPr lang="en-US" sz="1150" b="1" dirty="0">
                <a:solidFill>
                  <a:schemeClr val="tx1"/>
                </a:solidFill>
              </a:rPr>
              <a:t>1 Aug to 14 Oct 2026</a:t>
            </a:r>
            <a:endParaRPr lang="en-US" sz="1150" dirty="0"/>
          </a:p>
        </p:txBody>
      </p:sp>
      <p:sp>
        <p:nvSpPr>
          <p:cNvPr id="14" name="Text 12"/>
          <p:cNvSpPr txBox="1"/>
          <p:nvPr/>
        </p:nvSpPr>
        <p:spPr>
          <a:xfrm>
            <a:off x="6400800" y="1755648"/>
            <a:ext cx="2231136" cy="228600"/>
          </a:xfrm>
          <a:prstGeom prst="rect">
            <a:avLst/>
          </a:prstGeom>
          <a:noFill/>
          <a:ln/>
        </p:spPr>
        <p:txBody>
          <a:bodyPr wrap="square" lIns="0" tIns="0" rIns="0" bIns="0" rtlCol="0" anchor="ctr"/>
          <a:lstStyle/>
          <a:p>
            <a:pPr indent="0" marL="0">
              <a:buNone/>
            </a:pPr>
            <a:r>
              <a:rPr lang="en-US" sz="1100" dirty="0">
                <a:solidFill>
                  <a:schemeClr val="accent3"/>
                </a:solidFill>
              </a:rPr>
              <a:t>75 days  ·  reported once</a:t>
            </a:r>
            <a:endParaRPr lang="en-US" sz="1100" dirty="0"/>
          </a:p>
        </p:txBody>
      </p:sp>
      <p:sp>
        <p:nvSpPr>
          <p:cNvPr id="15" name="Text 13"/>
          <p:cNvSpPr txBox="1"/>
          <p:nvPr/>
        </p:nvSpPr>
        <p:spPr>
          <a:xfrm>
            <a:off x="457200" y="2029968"/>
            <a:ext cx="8229600" cy="274320"/>
          </a:xfrm>
          <a:prstGeom prst="rect">
            <a:avLst/>
          </a:prstGeom>
          <a:noFill/>
          <a:ln/>
        </p:spPr>
        <p:txBody>
          <a:bodyPr wrap="square" lIns="0" tIns="0" rIns="0" bIns="0" rtlCol="0" anchor="ctr"/>
          <a:lstStyle/>
          <a:p>
            <a:pPr indent="0" marL="0">
              <a:buNone/>
            </a:pPr>
            <a:r>
              <a:rPr lang="en-US" sz="1100" i="1" dirty="0">
                <a:solidFill>
                  <a:schemeClr val="accent3"/>
                </a:solidFill>
              </a:rPr>
              <a:t>Half-hourly GB market index price (APX) from Elexon's open BMRS API: 18,192 settlement periods, no key, no forecast feed.</a:t>
            </a:r>
            <a:endParaRPr lang="en-US" sz="1100" dirty="0"/>
          </a:p>
        </p:txBody>
      </p:sp>
      <p:sp>
        <p:nvSpPr>
          <p:cNvPr id="16" name="Text 14"/>
          <p:cNvSpPr txBox="1"/>
          <p:nvPr/>
        </p:nvSpPr>
        <p:spPr>
          <a:xfrm>
            <a:off x="457200" y="2423160"/>
            <a:ext cx="4114800" cy="32004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The score</a:t>
            </a:r>
            <a:endParaRPr lang="en-US" sz="1700" dirty="0"/>
          </a:p>
        </p:txBody>
      </p:sp>
      <p:sp>
        <p:nvSpPr>
          <p:cNvPr id="17" name="score Net £/MW/day"/>
          <p:cNvSpPr txBox="1"/>
          <p:nvPr/>
        </p:nvSpPr>
        <p:spPr>
          <a:xfrm>
            <a:off x="457200" y="2788920"/>
            <a:ext cx="4114800" cy="457200"/>
          </a:xfrm>
          <a:prstGeom prst="rect">
            <a:avLst/>
          </a:prstGeom>
          <a:noFill/>
          <a:ln/>
        </p:spPr>
        <p:txBody>
          <a:bodyPr wrap="square" lIns="0" tIns="0" rIns="0" bIns="0" rtlCol="0" anchor="t"/>
          <a:lstStyle/>
          <a:p>
            <a:pPr indent="0" marL="0">
              <a:buNone/>
            </a:pPr>
            <a:r>
              <a:rPr lang="en-US" sz="1100" b="1" dirty="0">
                <a:solidFill>
                  <a:schemeClr val="tx1"/>
                </a:solidFill>
              </a:rPr>
              <a:t>Net £/MW/day  </a:t>
            </a:r>
            <a:pPr indent="0" marL="0">
              <a:buNone/>
            </a:pPr>
            <a:r>
              <a:rPr lang="en-US" sz="1100" dirty="0">
                <a:solidFill>
                  <a:schemeClr val="tx2"/>
                </a:solidFill>
              </a:rPr>
              <a:t>with a 95% bootstrap CI over days; revenue minus degradation.</a:t>
            </a:r>
            <a:endParaRPr lang="en-US" sz="1100" dirty="0"/>
          </a:p>
        </p:txBody>
      </p:sp>
      <p:sp>
        <p:nvSpPr>
          <p:cNvPr id="18" name="score Percentage of Perfect"/>
          <p:cNvSpPr txBox="1"/>
          <p:nvPr/>
        </p:nvSpPr>
        <p:spPr>
          <a:xfrm>
            <a:off x="457200" y="3273552"/>
            <a:ext cx="4114800" cy="457200"/>
          </a:xfrm>
          <a:prstGeom prst="rect">
            <a:avLst/>
          </a:prstGeom>
          <a:noFill/>
          <a:ln/>
        </p:spPr>
        <p:txBody>
          <a:bodyPr wrap="square" lIns="0" tIns="0" rIns="0" bIns="0" rtlCol="0" anchor="t"/>
          <a:lstStyle/>
          <a:p>
            <a:pPr indent="0" marL="0">
              <a:buNone/>
            </a:pPr>
            <a:r>
              <a:rPr lang="en-US" sz="1100" b="1" dirty="0">
                <a:solidFill>
                  <a:schemeClr val="tx1"/>
                </a:solidFill>
              </a:rPr>
              <a:t>Percentage of Perfect  </a:t>
            </a:r>
            <a:pPr indent="0" marL="0">
              <a:buNone/>
            </a:pPr>
            <a:r>
              <a:rPr lang="en-US" sz="1100" dirty="0">
                <a:solidFill>
                  <a:schemeClr val="tx2"/>
                </a:solidFill>
              </a:rPr>
              <a:t>against an exact perfect-foresight optimum, a 5-state dynamic programme over the window.</a:t>
            </a:r>
            <a:endParaRPr lang="en-US" sz="1100" dirty="0"/>
          </a:p>
        </p:txBody>
      </p:sp>
      <p:sp>
        <p:nvSpPr>
          <p:cNvPr id="19" name="score Costs live in the simulator"/>
          <p:cNvSpPr txBox="1"/>
          <p:nvPr/>
        </p:nvSpPr>
        <p:spPr>
          <a:xfrm>
            <a:off x="457200" y="3758184"/>
            <a:ext cx="4114800" cy="457200"/>
          </a:xfrm>
          <a:prstGeom prst="rect">
            <a:avLst/>
          </a:prstGeom>
          <a:noFill/>
          <a:ln/>
        </p:spPr>
        <p:txBody>
          <a:bodyPr wrap="square" lIns="0" tIns="0" rIns="0" bIns="0" rtlCol="0" anchor="t"/>
          <a:lstStyle/>
          <a:p>
            <a:pPr indent="0" marL="0">
              <a:buNone/>
            </a:pPr>
            <a:r>
              <a:rPr lang="en-US" sz="1100" b="1" dirty="0">
                <a:solidFill>
                  <a:schemeClr val="tx1"/>
                </a:solidFill>
              </a:rPr>
              <a:t>Costs live in the simulator  </a:t>
            </a:r>
            <a:pPr indent="0" marL="0">
              <a:buNone/>
            </a:pPr>
            <a:r>
              <a:rPr lang="en-US" sz="1100" dirty="0">
                <a:solidFill>
                  <a:schemeClr val="tx2"/>
                </a:solidFill>
              </a:rPr>
              <a:t>90% round trip, £10/MWh throughput, 1 MW / 2 MWh; the simulator clips and does the accounting.</a:t>
            </a:r>
            <a:endParaRPr lang="en-US" sz="1100" dirty="0"/>
          </a:p>
        </p:txBody>
      </p:sp>
      <p:sp>
        <p:nvSpPr>
          <p:cNvPr id="20" name="score 0.2 seconds per evaluation"/>
          <p:cNvSpPr txBox="1"/>
          <p:nvPr/>
        </p:nvSpPr>
        <p:spPr>
          <a:xfrm>
            <a:off x="457200" y="4242816"/>
            <a:ext cx="4114800" cy="457200"/>
          </a:xfrm>
          <a:prstGeom prst="rect">
            <a:avLst/>
          </a:prstGeom>
          <a:noFill/>
          <a:ln/>
        </p:spPr>
        <p:txBody>
          <a:bodyPr wrap="square" lIns="0" tIns="0" rIns="0" bIns="0" rtlCol="0" anchor="t"/>
          <a:lstStyle/>
          <a:p>
            <a:pPr indent="0" marL="0">
              <a:buNone/>
            </a:pPr>
            <a:r>
              <a:rPr lang="en-US" sz="1100" b="1" dirty="0">
                <a:solidFill>
                  <a:schemeClr val="tx1"/>
                </a:solidFill>
              </a:rPr>
              <a:t>Under a second per evaluation  </a:t>
            </a:r>
            <a:pPr indent="0" marL="0">
              <a:buNone/>
            </a:pPr>
            <a:r>
              <a:rPr lang="en-US" sz="1100" dirty="0">
                <a:solidFill>
                  <a:schemeClr val="tx2"/>
                </a:solidFill>
              </a:rPr>
              <a:t>deterministic, zero dependencies beyond Python.</a:t>
            </a:r>
            <a:endParaRPr lang="en-US" sz="1100" dirty="0"/>
          </a:p>
        </p:txBody>
      </p:sp>
      <p:sp>
        <p:nvSpPr>
          <p:cNvPr id="21" name="guards card"/>
          <p:cNvSpPr/>
          <p:nvPr/>
        </p:nvSpPr>
        <p:spPr>
          <a:xfrm>
            <a:off x="4754880" y="2423160"/>
            <a:ext cx="3931920" cy="2240280"/>
          </a:xfrm>
          <a:prstGeom prst="rect">
            <a:avLst/>
          </a:prstGeom>
          <a:solidFill>
            <a:srgbClr val="F4F4F4"/>
          </a:solidFill>
          <a:ln w="12700">
            <a:solidFill>
              <a:srgbClr val="F4F4F4"/>
            </a:solidFill>
            <a:prstDash val="solid"/>
          </a:ln>
        </p:spPr>
        <p:txBody>
          <a:bodyPr/>
          <a:p/>
        </p:txBody>
      </p:sp>
      <p:sp>
        <p:nvSpPr>
          <p:cNvPr id="22" name="FiShield icon"/>
          <p:cNvSpPr/>
          <p:nvPr/>
        </p:nvSpPr>
        <p:spPr>
          <a:xfrm>
            <a:off x="4937760" y="2542032"/>
            <a:ext cx="384048" cy="384048"/>
          </a:xfrm>
          <a:prstGeom prst="ellipse">
            <a:avLst/>
          </a:prstGeom>
          <a:solidFill>
            <a:srgbClr val="E6F4EA"/>
          </a:solidFill>
          <a:ln w="12700">
            <a:solidFill>
              <a:srgbClr val="E6F4EA"/>
            </a:solidFill>
            <a:prstDash val="solid"/>
          </a:ln>
        </p:spPr>
        <p:txBody>
          <a:bodyPr/>
          <a:p/>
        </p:txBody>
      </p:sp>
      <p:pic>
        <p:nvPicPr>
          <p:cNvPr id="23" name="FiShield" descr="preencoded.png">    </p:cNvPr>
          <p:cNvPicPr>
            <a:picLocks noChangeAspect="1"/>
          </p:cNvPicPr>
          <p:nvPr/>
        </p:nvPicPr>
        <p:blipFill>
          <a:blip r:embed="rId1"/>
          <a:stretch>
            <a:fillRect/>
          </a:stretch>
        </p:blipFill>
        <p:spPr>
          <a:xfrm>
            <a:off x="5033772" y="2638044"/>
            <a:ext cx="192024" cy="192024"/>
          </a:xfrm>
          <a:prstGeom prst="rect">
            <a:avLst/>
          </a:prstGeom>
        </p:spPr>
      </p:pic>
      <p:sp>
        <p:nvSpPr>
          <p:cNvPr id="24" name="Text 21"/>
          <p:cNvSpPr txBox="1"/>
          <p:nvPr/>
        </p:nvSpPr>
        <p:spPr>
          <a:xfrm>
            <a:off x="5440680" y="2542032"/>
            <a:ext cx="3108960" cy="384048"/>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Guards, each tested with a cheating policy</a:t>
            </a:r>
            <a:endParaRPr lang="en-US" sz="1400" dirty="0"/>
          </a:p>
        </p:txBody>
      </p:sp>
      <p:sp>
        <p:nvSpPr>
          <p:cNvPr id="25" name="guards list"/>
          <p:cNvSpPr txBox="1"/>
          <p:nvPr/>
        </p:nvSpPr>
        <p:spPr>
          <a:xfrm>
            <a:off x="4937760" y="3017520"/>
            <a:ext cx="3611880" cy="1600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2"/>
                </a:solidFill>
              </a:rPr>
              <a:t>No lookahead: the rule gets prices[:t]. The current price is a settlement price, known after the fact</a:t>
            </a:r>
            <a:endParaRPr lang="en-US" sz="1100" dirty="0"/>
          </a:p>
          <a:p>
            <a:pPr marL="342900" indent="-342900">
              <a:spcAft>
                <a:spcPts val="400"/>
              </a:spcAft>
              <a:buSzPct val="100000"/>
              <a:buChar char="■"/>
            </a:pPr>
            <a:r>
              <a:rPr lang="en-US" sz="1100" dirty="0">
                <a:solidFill>
                  <a:schemeClr val="tx2"/>
                </a:solidFill>
              </a:rPr>
              <a:t>No peeking: the loop runs train only; gate.py reads val, and test exactly once</a:t>
            </a:r>
            <a:endParaRPr lang="en-US" sz="1100" dirty="0"/>
          </a:p>
          <a:p>
            <a:pPr marL="342900" indent="-342900">
              <a:spcAft>
                <a:spcPts val="400"/>
              </a:spcAft>
              <a:buSzPct val="100000"/>
              <a:buChar char="■"/>
            </a:pPr>
            <a:r>
              <a:rPr lang="en-US" sz="1100" dirty="0">
                <a:solidFill>
                  <a:schemeClr val="tx2"/>
                </a:solidFill>
              </a:rPr>
              <a:t>No literal dates (regex), no imports but math (AST check)</a:t>
            </a:r>
            <a:endParaRPr lang="en-US" sz="1100" dirty="0"/>
          </a:p>
          <a:p>
            <a:pPr marL="342900" indent="-342900">
              <a:spcAft>
                <a:spcPts val="400"/>
              </a:spcAft>
              <a:buSzPct val="100000"/>
              <a:buChar char="■"/>
            </a:pPr>
            <a:r>
              <a:rPr lang="en-US" sz="1100" dirty="0">
                <a:solidFill>
                  <a:schemeClr val="tx2"/>
                </a:solidFill>
              </a:rPr>
              <a:t>Crash, NaN or 30 s timeout scores 0 and returns the error</a:t>
            </a:r>
            <a:endParaRPr lang="en-US" sz="1100" dirty="0"/>
          </a:p>
          <a:p>
            <a:pPr marL="342900" indent="-342900">
              <a:spcAft>
                <a:spcPts val="400"/>
              </a:spcAft>
              <a:buSzPct val="100000"/>
              <a:buChar char="■"/>
            </a:pPr>
            <a:r>
              <a:rPr lang="en-US" sz="1100" dirty="0">
                <a:solidFill>
                  <a:schemeClr val="tx2"/>
                </a:solidFill>
              </a:rPr>
              <a:t>Power and state of charge clipped by the simulator; cycles counted</a:t>
            </a:r>
            <a:endParaRPr lang="en-US" sz="11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Propose, score, keep. Then prove it</a:t>
            </a:r>
            <a:endParaRPr lang="en-US" sz="2800" dirty="0"/>
          </a:p>
        </p:txBody>
      </p:sp>
      <p:sp>
        <p:nvSpPr>
          <p:cNvPr id="3" name="flow fetch_prices.py"/>
          <p:cNvSpPr/>
          <p:nvPr/>
        </p:nvSpPr>
        <p:spPr>
          <a:xfrm>
            <a:off x="457200" y="1097280"/>
            <a:ext cx="1261872" cy="960120"/>
          </a:xfrm>
          <a:prstGeom prst="roundRect">
            <a:avLst>
              <a:gd name="adj" fmla="val 5714"/>
            </a:avLst>
          </a:prstGeom>
          <a:solidFill>
            <a:srgbClr val="171A20"/>
          </a:solidFill>
          <a:ln w="12700">
            <a:solidFill>
              <a:srgbClr val="171A20"/>
            </a:solidFill>
            <a:prstDash val="solid"/>
          </a:ln>
        </p:spPr>
        <p:txBody>
          <a:bodyPr/>
          <a:p/>
        </p:txBody>
      </p:sp>
      <p:pic>
        <p:nvPicPr>
          <p:cNvPr id="4" name="FiDownload" descr="preencoded.png">    </p:cNvPr>
          <p:cNvPicPr>
            <a:picLocks noChangeAspect="1"/>
          </p:cNvPicPr>
          <p:nvPr/>
        </p:nvPicPr>
        <p:blipFill>
          <a:blip r:embed="rId1"/>
          <a:stretch>
            <a:fillRect/>
          </a:stretch>
        </p:blipFill>
        <p:spPr>
          <a:xfrm>
            <a:off x="932688" y="1170432"/>
            <a:ext cx="310896" cy="310896"/>
          </a:xfrm>
          <a:prstGeom prst="rect">
            <a:avLst/>
          </a:prstGeom>
        </p:spPr>
      </p:pic>
      <p:sp>
        <p:nvSpPr>
          <p:cNvPr id="5" name="Text 2"/>
          <p:cNvSpPr txBox="1"/>
          <p:nvPr/>
        </p:nvSpPr>
        <p:spPr>
          <a:xfrm>
            <a:off x="512064" y="1490472"/>
            <a:ext cx="1152144" cy="274320"/>
          </a:xfrm>
          <a:prstGeom prst="rect">
            <a:avLst/>
          </a:prstGeom>
          <a:noFill/>
          <a:ln/>
        </p:spPr>
        <p:txBody>
          <a:bodyPr wrap="square" lIns="0" tIns="0" rIns="0" bIns="0" rtlCol="0" anchor="ctr"/>
          <a:lstStyle/>
          <a:p>
            <a:pPr algn="ctr" indent="0" marL="0">
              <a:buNone/>
            </a:pPr>
            <a:r>
              <a:rPr lang="en-US" sz="1100" b="1" dirty="0">
                <a:solidFill>
                  <a:schemeClr val="bg1"/>
                </a:solidFill>
              </a:rPr>
              <a:t>fetch_prices.py</a:t>
            </a:r>
            <a:endParaRPr lang="en-US" sz="1100" dirty="0"/>
          </a:p>
        </p:txBody>
      </p:sp>
      <p:sp>
        <p:nvSpPr>
          <p:cNvPr id="6" name="Text 3"/>
          <p:cNvSpPr txBox="1"/>
          <p:nvPr/>
        </p:nvSpPr>
        <p:spPr>
          <a:xfrm>
            <a:off x="512064" y="1737360"/>
            <a:ext cx="1152144" cy="274320"/>
          </a:xfrm>
          <a:prstGeom prst="rect">
            <a:avLst/>
          </a:prstGeom>
          <a:noFill/>
          <a:ln/>
        </p:spPr>
        <p:txBody>
          <a:bodyPr wrap="square" lIns="0" tIns="0" rIns="0" bIns="0" rtlCol="0" anchor="ctr"/>
          <a:lstStyle/>
          <a:p>
            <a:pPr algn="ctr" indent="0" marL="0">
              <a:buNone/>
            </a:pPr>
            <a:r>
              <a:rPr lang="en-US" sz="950" dirty="0">
                <a:solidFill>
                  <a:schemeClr val="accent6"/>
                </a:solidFill>
              </a:rPr>
              <a:t>Elexon API to prices.csv</a:t>
            </a:r>
            <a:endParaRPr lang="en-US" sz="950" dirty="0"/>
          </a:p>
        </p:txBody>
      </p:sp>
      <p:sp>
        <p:nvSpPr>
          <p:cNvPr id="7" name="Text 4"/>
          <p:cNvSpPr txBox="1"/>
          <p:nvPr/>
        </p:nvSpPr>
        <p:spPr>
          <a:xfrm>
            <a:off x="1709928" y="1371600"/>
            <a:ext cx="146304"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8" name="flow split by time"/>
          <p:cNvSpPr/>
          <p:nvPr/>
        </p:nvSpPr>
        <p:spPr>
          <a:xfrm>
            <a:off x="1847088" y="1097280"/>
            <a:ext cx="1261872" cy="960120"/>
          </a:xfrm>
          <a:prstGeom prst="roundRect">
            <a:avLst>
              <a:gd name="adj" fmla="val 5714"/>
            </a:avLst>
          </a:prstGeom>
          <a:solidFill>
            <a:srgbClr val="171A20"/>
          </a:solidFill>
          <a:ln w="12700">
            <a:solidFill>
              <a:srgbClr val="171A20"/>
            </a:solidFill>
            <a:prstDash val="solid"/>
          </a:ln>
        </p:spPr>
        <p:txBody>
          <a:bodyPr/>
          <a:p/>
        </p:txBody>
      </p:sp>
      <p:pic>
        <p:nvPicPr>
          <p:cNvPr id="9" name="FiLayers" descr="preencoded.png">    </p:cNvPr>
          <p:cNvPicPr>
            <a:picLocks noChangeAspect="1"/>
          </p:cNvPicPr>
          <p:nvPr/>
        </p:nvPicPr>
        <p:blipFill>
          <a:blip r:embed="rId2"/>
          <a:stretch>
            <a:fillRect/>
          </a:stretch>
        </p:blipFill>
        <p:spPr>
          <a:xfrm>
            <a:off x="2322576" y="1170432"/>
            <a:ext cx="310896" cy="310896"/>
          </a:xfrm>
          <a:prstGeom prst="rect">
            <a:avLst/>
          </a:prstGeom>
        </p:spPr>
      </p:pic>
      <p:sp>
        <p:nvSpPr>
          <p:cNvPr id="10" name="Text 6"/>
          <p:cNvSpPr txBox="1"/>
          <p:nvPr/>
        </p:nvSpPr>
        <p:spPr>
          <a:xfrm>
            <a:off x="1901952" y="1490472"/>
            <a:ext cx="1152144" cy="274320"/>
          </a:xfrm>
          <a:prstGeom prst="rect">
            <a:avLst/>
          </a:prstGeom>
          <a:noFill/>
          <a:ln/>
        </p:spPr>
        <p:txBody>
          <a:bodyPr wrap="square" lIns="0" tIns="0" rIns="0" bIns="0" rtlCol="0" anchor="ctr"/>
          <a:lstStyle/>
          <a:p>
            <a:pPr algn="ctr" indent="0" marL="0">
              <a:buNone/>
            </a:pPr>
            <a:r>
              <a:rPr lang="en-US" sz="1100" b="1" dirty="0">
                <a:solidFill>
                  <a:schemeClr val="bg1"/>
                </a:solidFill>
              </a:rPr>
              <a:t>split by time</a:t>
            </a:r>
            <a:endParaRPr lang="en-US" sz="1100" dirty="0"/>
          </a:p>
        </p:txBody>
      </p:sp>
      <p:sp>
        <p:nvSpPr>
          <p:cNvPr id="11" name="Text 7"/>
          <p:cNvSpPr txBox="1"/>
          <p:nvPr/>
        </p:nvSpPr>
        <p:spPr>
          <a:xfrm>
            <a:off x="1901952" y="1737360"/>
            <a:ext cx="1152144" cy="274320"/>
          </a:xfrm>
          <a:prstGeom prst="rect">
            <a:avLst/>
          </a:prstGeom>
          <a:noFill/>
          <a:ln/>
        </p:spPr>
        <p:txBody>
          <a:bodyPr wrap="square" lIns="0" tIns="0" rIns="0" bIns="0" rtlCol="0" anchor="ctr"/>
          <a:lstStyle/>
          <a:p>
            <a:pPr algn="ctr" indent="0" marL="0">
              <a:buNone/>
            </a:pPr>
            <a:r>
              <a:rPr lang="en-US" sz="950" dirty="0">
                <a:solidFill>
                  <a:schemeClr val="accent6"/>
                </a:solidFill>
              </a:rPr>
              <a:t>train / val / test</a:t>
            </a:r>
            <a:endParaRPr lang="en-US" sz="950" dirty="0"/>
          </a:p>
        </p:txBody>
      </p:sp>
      <p:sp>
        <p:nvSpPr>
          <p:cNvPr id="12" name="Text 8"/>
          <p:cNvSpPr txBox="1"/>
          <p:nvPr/>
        </p:nvSpPr>
        <p:spPr>
          <a:xfrm>
            <a:off x="3099816" y="1371600"/>
            <a:ext cx="146304"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13" name="flow loop edits policy.py"/>
          <p:cNvSpPr/>
          <p:nvPr/>
        </p:nvSpPr>
        <p:spPr>
          <a:xfrm>
            <a:off x="3236976" y="1097280"/>
            <a:ext cx="1261872" cy="960120"/>
          </a:xfrm>
          <a:prstGeom prst="roundRect">
            <a:avLst>
              <a:gd name="adj" fmla="val 5714"/>
            </a:avLst>
          </a:prstGeom>
          <a:solidFill>
            <a:srgbClr val="171A20"/>
          </a:solidFill>
          <a:ln w="12700">
            <a:solidFill>
              <a:srgbClr val="171A20"/>
            </a:solidFill>
            <a:prstDash val="solid"/>
          </a:ln>
        </p:spPr>
        <p:txBody>
          <a:bodyPr/>
          <a:p/>
        </p:txBody>
      </p:sp>
      <p:pic>
        <p:nvPicPr>
          <p:cNvPr id="14" name="FiSearch" descr="preencoded.png">    </p:cNvPr>
          <p:cNvPicPr>
            <a:picLocks noChangeAspect="1"/>
          </p:cNvPicPr>
          <p:nvPr/>
        </p:nvPicPr>
        <p:blipFill>
          <a:blip r:embed="rId3"/>
          <a:stretch>
            <a:fillRect/>
          </a:stretch>
        </p:blipFill>
        <p:spPr>
          <a:xfrm>
            <a:off x="3712464" y="1170432"/>
            <a:ext cx="310896" cy="310896"/>
          </a:xfrm>
          <a:prstGeom prst="rect">
            <a:avLst/>
          </a:prstGeom>
        </p:spPr>
      </p:pic>
      <p:sp>
        <p:nvSpPr>
          <p:cNvPr id="15" name="Text 10"/>
          <p:cNvSpPr txBox="1"/>
          <p:nvPr/>
        </p:nvSpPr>
        <p:spPr>
          <a:xfrm>
            <a:off x="3291840" y="1490472"/>
            <a:ext cx="1152144" cy="274320"/>
          </a:xfrm>
          <a:prstGeom prst="rect">
            <a:avLst/>
          </a:prstGeom>
          <a:noFill/>
          <a:ln/>
        </p:spPr>
        <p:txBody>
          <a:bodyPr wrap="square" lIns="0" tIns="0" rIns="0" bIns="0" rtlCol="0" anchor="ctr"/>
          <a:lstStyle/>
          <a:p>
            <a:pPr algn="ctr" indent="0" marL="0">
              <a:buNone/>
            </a:pPr>
            <a:r>
              <a:rPr lang="en-US" sz="1100" b="1" dirty="0">
                <a:solidFill>
                  <a:schemeClr val="bg1"/>
                </a:solidFill>
              </a:rPr>
              <a:t>loop edits policy.py</a:t>
            </a:r>
            <a:endParaRPr lang="en-US" sz="1100" dirty="0"/>
          </a:p>
        </p:txBody>
      </p:sp>
      <p:sp>
        <p:nvSpPr>
          <p:cNvPr id="16" name="Text 11"/>
          <p:cNvSpPr txBox="1"/>
          <p:nvPr/>
        </p:nvSpPr>
        <p:spPr>
          <a:xfrm>
            <a:off x="3291840" y="1737360"/>
            <a:ext cx="1152144" cy="274320"/>
          </a:xfrm>
          <a:prstGeom prst="rect">
            <a:avLst/>
          </a:prstGeom>
          <a:noFill/>
          <a:ln/>
        </p:spPr>
        <p:txBody>
          <a:bodyPr wrap="square" lIns="0" tIns="0" rIns="0" bIns="0" rtlCol="0" anchor="ctr"/>
          <a:lstStyle/>
          <a:p>
            <a:pPr algn="ctr" indent="0" marL="0">
              <a:buNone/>
            </a:pPr>
            <a:r>
              <a:rPr lang="en-US" sz="950" dirty="0">
                <a:solidFill>
                  <a:schemeClr val="accent6"/>
                </a:solidFill>
              </a:rPr>
              <a:t>the only file it may touch</a:t>
            </a:r>
            <a:endParaRPr lang="en-US" sz="950" dirty="0"/>
          </a:p>
        </p:txBody>
      </p:sp>
      <p:sp>
        <p:nvSpPr>
          <p:cNvPr id="17" name="Text 12"/>
          <p:cNvSpPr txBox="1"/>
          <p:nvPr/>
        </p:nvSpPr>
        <p:spPr>
          <a:xfrm>
            <a:off x="4489704" y="1371600"/>
            <a:ext cx="146304"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18" name="flow evaluate.py"/>
          <p:cNvSpPr/>
          <p:nvPr/>
        </p:nvSpPr>
        <p:spPr>
          <a:xfrm>
            <a:off x="4626864" y="1097280"/>
            <a:ext cx="1261872" cy="960120"/>
          </a:xfrm>
          <a:prstGeom prst="roundRect">
            <a:avLst>
              <a:gd name="adj" fmla="val 5714"/>
            </a:avLst>
          </a:prstGeom>
          <a:solidFill>
            <a:srgbClr val="171A20"/>
          </a:solidFill>
          <a:ln w="12700">
            <a:solidFill>
              <a:srgbClr val="171A20"/>
            </a:solidFill>
            <a:prstDash val="solid"/>
          </a:ln>
        </p:spPr>
        <p:txBody>
          <a:bodyPr/>
          <a:p/>
        </p:txBody>
      </p:sp>
      <p:pic>
        <p:nvPicPr>
          <p:cNvPr id="19" name="FiBarChart2" descr="preencoded.png">    </p:cNvPr>
          <p:cNvPicPr>
            <a:picLocks noChangeAspect="1"/>
          </p:cNvPicPr>
          <p:nvPr/>
        </p:nvPicPr>
        <p:blipFill>
          <a:blip r:embed="rId4"/>
          <a:stretch>
            <a:fillRect/>
          </a:stretch>
        </p:blipFill>
        <p:spPr>
          <a:xfrm>
            <a:off x="5102352" y="1170432"/>
            <a:ext cx="310896" cy="310896"/>
          </a:xfrm>
          <a:prstGeom prst="rect">
            <a:avLst/>
          </a:prstGeom>
        </p:spPr>
      </p:pic>
      <p:sp>
        <p:nvSpPr>
          <p:cNvPr id="20" name="Text 14"/>
          <p:cNvSpPr txBox="1"/>
          <p:nvPr/>
        </p:nvSpPr>
        <p:spPr>
          <a:xfrm>
            <a:off x="4681728" y="1490472"/>
            <a:ext cx="1152144" cy="274320"/>
          </a:xfrm>
          <a:prstGeom prst="rect">
            <a:avLst/>
          </a:prstGeom>
          <a:noFill/>
          <a:ln/>
        </p:spPr>
        <p:txBody>
          <a:bodyPr wrap="square" lIns="0" tIns="0" rIns="0" bIns="0" rtlCol="0" anchor="ctr"/>
          <a:lstStyle/>
          <a:p>
            <a:pPr algn="ctr" indent="0" marL="0">
              <a:buNone/>
            </a:pPr>
            <a:r>
              <a:rPr lang="en-US" sz="1100" b="1" dirty="0">
                <a:solidFill>
                  <a:schemeClr val="bg1"/>
                </a:solidFill>
              </a:rPr>
              <a:t>evaluate.py</a:t>
            </a:r>
            <a:endParaRPr lang="en-US" sz="1100" dirty="0"/>
          </a:p>
        </p:txBody>
      </p:sp>
      <p:sp>
        <p:nvSpPr>
          <p:cNvPr id="21" name="Text 15"/>
          <p:cNvSpPr txBox="1"/>
          <p:nvPr/>
        </p:nvSpPr>
        <p:spPr>
          <a:xfrm>
            <a:off x="4681728" y="1737360"/>
            <a:ext cx="1152144" cy="274320"/>
          </a:xfrm>
          <a:prstGeom prst="rect">
            <a:avLst/>
          </a:prstGeom>
          <a:noFill/>
          <a:ln/>
        </p:spPr>
        <p:txBody>
          <a:bodyPr wrap="square" lIns="0" tIns="0" rIns="0" bIns="0" rtlCol="0" anchor="ctr"/>
          <a:lstStyle/>
          <a:p>
            <a:pPr algn="ctr" indent="0" marL="0">
              <a:buNone/>
            </a:pPr>
            <a:r>
              <a:rPr lang="en-US" sz="950" dirty="0">
                <a:solidFill>
                  <a:schemeClr val="accent6"/>
                </a:solidFill>
              </a:rPr>
              <a:t>JSON score on train</a:t>
            </a:r>
            <a:endParaRPr lang="en-US" sz="950" dirty="0"/>
          </a:p>
        </p:txBody>
      </p:sp>
      <p:sp>
        <p:nvSpPr>
          <p:cNvPr id="22" name="Text 16"/>
          <p:cNvSpPr txBox="1"/>
          <p:nvPr/>
        </p:nvSpPr>
        <p:spPr>
          <a:xfrm>
            <a:off x="5879592" y="1371600"/>
            <a:ext cx="146304"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23" name="flow gate.py"/>
          <p:cNvSpPr/>
          <p:nvPr/>
        </p:nvSpPr>
        <p:spPr>
          <a:xfrm>
            <a:off x="6016752" y="1097280"/>
            <a:ext cx="1261872" cy="960120"/>
          </a:xfrm>
          <a:prstGeom prst="roundRect">
            <a:avLst>
              <a:gd name="adj" fmla="val 5714"/>
            </a:avLst>
          </a:prstGeom>
          <a:solidFill>
            <a:srgbClr val="2A6A4A"/>
          </a:solidFill>
          <a:ln w="12700">
            <a:solidFill>
              <a:srgbClr val="2A6A4A"/>
            </a:solidFill>
            <a:prstDash val="solid"/>
          </a:ln>
        </p:spPr>
        <p:txBody>
          <a:bodyPr/>
          <a:p/>
        </p:txBody>
      </p:sp>
      <p:pic>
        <p:nvPicPr>
          <p:cNvPr id="24" name="FiCheckCircle" descr="preencoded.png">    </p:cNvPr>
          <p:cNvPicPr>
            <a:picLocks noChangeAspect="1"/>
          </p:cNvPicPr>
          <p:nvPr/>
        </p:nvPicPr>
        <p:blipFill>
          <a:blip r:embed="rId5"/>
          <a:stretch>
            <a:fillRect/>
          </a:stretch>
        </p:blipFill>
        <p:spPr>
          <a:xfrm>
            <a:off x="6492240" y="1170432"/>
            <a:ext cx="310896" cy="310896"/>
          </a:xfrm>
          <a:prstGeom prst="rect">
            <a:avLst/>
          </a:prstGeom>
        </p:spPr>
      </p:pic>
      <p:sp>
        <p:nvSpPr>
          <p:cNvPr id="25" name="Text 18"/>
          <p:cNvSpPr txBox="1"/>
          <p:nvPr/>
        </p:nvSpPr>
        <p:spPr>
          <a:xfrm>
            <a:off x="6071616" y="1490472"/>
            <a:ext cx="1152144" cy="274320"/>
          </a:xfrm>
          <a:prstGeom prst="rect">
            <a:avLst/>
          </a:prstGeom>
          <a:noFill/>
          <a:ln/>
        </p:spPr>
        <p:txBody>
          <a:bodyPr wrap="square" lIns="0" tIns="0" rIns="0" bIns="0" rtlCol="0" anchor="ctr"/>
          <a:lstStyle/>
          <a:p>
            <a:pPr algn="ctr" indent="0" marL="0">
              <a:buNone/>
            </a:pPr>
            <a:r>
              <a:rPr lang="en-US" sz="1100" b="1" dirty="0">
                <a:solidFill>
                  <a:schemeClr val="bg1"/>
                </a:solidFill>
              </a:rPr>
              <a:t>gate.py</a:t>
            </a:r>
            <a:endParaRPr lang="en-US" sz="1100" dirty="0"/>
          </a:p>
        </p:txBody>
      </p:sp>
      <p:sp>
        <p:nvSpPr>
          <p:cNvPr id="26" name="Text 19"/>
          <p:cNvSpPr txBox="1"/>
          <p:nvPr/>
        </p:nvSpPr>
        <p:spPr>
          <a:xfrm>
            <a:off x="6071616" y="1737360"/>
            <a:ext cx="1152144" cy="274320"/>
          </a:xfrm>
          <a:prstGeom prst="rect">
            <a:avLst/>
          </a:prstGeom>
          <a:noFill/>
          <a:ln/>
        </p:spPr>
        <p:txBody>
          <a:bodyPr wrap="square" lIns="0" tIns="0" rIns="0" bIns="0" rtlCol="0" anchor="ctr"/>
          <a:lstStyle/>
          <a:p>
            <a:pPr algn="ctr" indent="0" marL="0">
              <a:buNone/>
            </a:pPr>
            <a:r>
              <a:rPr lang="en-US" sz="950" dirty="0">
                <a:solidFill>
                  <a:schemeClr val="accent6"/>
                </a:solidFill>
              </a:rPr>
              <a:t>beats champion on val?</a:t>
            </a:r>
            <a:endParaRPr lang="en-US" sz="950" dirty="0"/>
          </a:p>
        </p:txBody>
      </p:sp>
      <p:sp>
        <p:nvSpPr>
          <p:cNvPr id="27" name="Text 20"/>
          <p:cNvSpPr txBox="1"/>
          <p:nvPr/>
        </p:nvSpPr>
        <p:spPr>
          <a:xfrm>
            <a:off x="7269480" y="1371600"/>
            <a:ext cx="146304" cy="365760"/>
          </a:xfrm>
          <a:prstGeom prst="rect">
            <a:avLst/>
          </a:prstGeom>
          <a:noFill/>
          <a:ln/>
        </p:spPr>
        <p:txBody>
          <a:bodyPr wrap="square" lIns="0" tIns="0" rIns="0" bIns="0" rtlCol="0" anchor="ctr"/>
          <a:lstStyle/>
          <a:p>
            <a:pPr algn="ctr" indent="0" marL="0">
              <a:buNone/>
            </a:pPr>
            <a:r>
              <a:rPr lang="en-US" sz="1800" dirty="0">
                <a:solidFill>
                  <a:schemeClr val="accent3"/>
                </a:solidFill>
              </a:rPr>
              <a:t>›</a:t>
            </a:r>
            <a:endParaRPr lang="en-US" sz="1800" dirty="0"/>
          </a:p>
        </p:txBody>
      </p:sp>
      <p:sp>
        <p:nvSpPr>
          <p:cNvPr id="28" name="flow champion + PR"/>
          <p:cNvSpPr/>
          <p:nvPr/>
        </p:nvSpPr>
        <p:spPr>
          <a:xfrm>
            <a:off x="7406640" y="1097280"/>
            <a:ext cx="1261872" cy="960120"/>
          </a:xfrm>
          <a:prstGeom prst="roundRect">
            <a:avLst>
              <a:gd name="adj" fmla="val 5714"/>
            </a:avLst>
          </a:prstGeom>
          <a:solidFill>
            <a:srgbClr val="2A6A4A"/>
          </a:solidFill>
          <a:ln w="12700">
            <a:solidFill>
              <a:srgbClr val="2A6A4A"/>
            </a:solidFill>
            <a:prstDash val="solid"/>
          </a:ln>
        </p:spPr>
        <p:txBody>
          <a:bodyPr/>
          <a:p/>
        </p:txBody>
      </p:sp>
      <p:pic>
        <p:nvPicPr>
          <p:cNvPr id="29" name="FiGitPullRequest" descr="preencoded.png">    </p:cNvPr>
          <p:cNvPicPr>
            <a:picLocks noChangeAspect="1"/>
          </p:cNvPicPr>
          <p:nvPr/>
        </p:nvPicPr>
        <p:blipFill>
          <a:blip r:embed="rId6"/>
          <a:stretch>
            <a:fillRect/>
          </a:stretch>
        </p:blipFill>
        <p:spPr>
          <a:xfrm>
            <a:off x="7882128" y="1170432"/>
            <a:ext cx="310896" cy="310896"/>
          </a:xfrm>
          <a:prstGeom prst="rect">
            <a:avLst/>
          </a:prstGeom>
        </p:spPr>
      </p:pic>
      <p:sp>
        <p:nvSpPr>
          <p:cNvPr id="30" name="Text 22"/>
          <p:cNvSpPr txBox="1"/>
          <p:nvPr/>
        </p:nvSpPr>
        <p:spPr>
          <a:xfrm>
            <a:off x="7461504" y="1490472"/>
            <a:ext cx="1152144" cy="274320"/>
          </a:xfrm>
          <a:prstGeom prst="rect">
            <a:avLst/>
          </a:prstGeom>
          <a:noFill/>
          <a:ln/>
        </p:spPr>
        <p:txBody>
          <a:bodyPr wrap="square" lIns="0" tIns="0" rIns="0" bIns="0" rtlCol="0" anchor="ctr"/>
          <a:lstStyle/>
          <a:p>
            <a:pPr algn="ctr" indent="0" marL="0">
              <a:buNone/>
            </a:pPr>
            <a:r>
              <a:rPr lang="en-US" sz="1100" b="1" dirty="0">
                <a:solidFill>
                  <a:schemeClr val="bg1"/>
                </a:solidFill>
              </a:rPr>
              <a:t>champion + PR</a:t>
            </a:r>
            <a:endParaRPr lang="en-US" sz="1100" dirty="0"/>
          </a:p>
        </p:txBody>
      </p:sp>
      <p:sp>
        <p:nvSpPr>
          <p:cNvPr id="31" name="Text 23"/>
          <p:cNvSpPr txBox="1"/>
          <p:nvPr/>
        </p:nvSpPr>
        <p:spPr>
          <a:xfrm>
            <a:off x="7461504" y="1737360"/>
            <a:ext cx="1152144" cy="274320"/>
          </a:xfrm>
          <a:prstGeom prst="rect">
            <a:avLst/>
          </a:prstGeom>
          <a:noFill/>
          <a:ln/>
        </p:spPr>
        <p:txBody>
          <a:bodyPr wrap="square" lIns="0" tIns="0" rIns="0" bIns="0" rtlCol="0" anchor="ctr"/>
          <a:lstStyle/>
          <a:p>
            <a:pPr algn="ctr" indent="0" marL="0">
              <a:buNone/>
            </a:pPr>
            <a:r>
              <a:rPr lang="en-US" sz="950" dirty="0">
                <a:solidFill>
                  <a:schemeClr val="accent6"/>
                </a:solidFill>
              </a:rPr>
              <a:t>test scored once</a:t>
            </a:r>
            <a:endParaRPr lang="en-US" sz="950" dirty="0"/>
          </a:p>
        </p:txBody>
      </p:sp>
      <p:graphicFrame>
        <p:nvGraphicFramePr>
          <p:cNvPr id="32" name="Chart 0" descr=""/>
          <p:cNvGraphicFramePr/>
          <p:nvPr/>
        </p:nvGraphicFramePr>
        <p:xfrm>
          <a:off x="457200" y="2286000"/>
          <a:ext cx="5120640" cy="2377440"/>
        </p:xfrm>
        <a:graphic xmlns:a="http://schemas.openxmlformats.org/drawingml/2006/main">
          <a:graphicData uri="http://schemas.openxmlformats.org/drawingml/2006/chart">
            <c:chart xmlns:c="http://schemas.openxmlformats.org/drawingml/2006/chart" r:id="rId7"/>
          </a:graphicData>
        </a:graphic>
      </p:graphicFrame>
      <p:sp>
        <p:nvSpPr>
          <p:cNvPr id="33" name="Text 24"/>
          <p:cNvSpPr txBox="1"/>
          <p:nvPr/>
        </p:nvSpPr>
        <p:spPr>
          <a:xfrm>
            <a:off x="2103120" y="2542032"/>
            <a:ext cx="3291840" cy="201168"/>
          </a:xfrm>
          <a:prstGeom prst="rect">
            <a:avLst/>
          </a:prstGeom>
          <a:noFill/>
          <a:ln/>
        </p:spPr>
        <p:txBody>
          <a:bodyPr wrap="square" lIns="0" tIns="0" rIns="0" bIns="0" rtlCol="0" anchor="ctr"/>
          <a:lstStyle/>
          <a:p>
            <a:pPr algn="r" indent="0" marL="0">
              <a:buNone/>
            </a:pPr>
            <a:r>
              <a:rPr lang="en-US" sz="900" i="1" dirty="0">
                <a:solidFill>
                  <a:schemeClr val="accent3"/>
                </a:solidFill>
              </a:rPr>
              <a:t>perfect foresight on train: £64.9/MW/day (chart top)</a:t>
            </a:r>
            <a:endParaRPr lang="en-US" sz="900" dirty="0"/>
          </a:p>
        </p:txBody>
      </p:sp>
      <p:sp>
        <p:nvSpPr>
          <p:cNvPr id="34" name="Text 25"/>
          <p:cNvSpPr txBox="1"/>
          <p:nvPr/>
        </p:nvSpPr>
        <p:spPr>
          <a:xfrm>
            <a:off x="5852160" y="2286000"/>
            <a:ext cx="2834640" cy="329184"/>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249</a:t>
            </a:r>
            <a:endParaRPr lang="en-US" sz="2200" dirty="0"/>
          </a:p>
        </p:txBody>
      </p:sp>
      <p:sp>
        <p:nvSpPr>
          <p:cNvPr id="35" name="Text 26"/>
          <p:cNvSpPr txBox="1"/>
          <p:nvPr/>
        </p:nvSpPr>
        <p:spPr>
          <a:xfrm>
            <a:off x="5852160" y="2615184"/>
            <a:ext cx="2834640" cy="310896"/>
          </a:xfrm>
          <a:prstGeom prst="rect">
            <a:avLst/>
          </a:prstGeom>
          <a:noFill/>
          <a:ln/>
        </p:spPr>
        <p:txBody>
          <a:bodyPr wrap="square" lIns="0" tIns="0" rIns="0" bIns="0" rtlCol="0" anchor="ctr"/>
          <a:lstStyle/>
          <a:p>
            <a:pPr indent="0" marL="0">
              <a:buNone/>
            </a:pPr>
            <a:r>
              <a:rPr lang="en-US" sz="1100" dirty="0">
                <a:solidFill>
                  <a:schemeClr val="tx2"/>
                </a:solidFill>
              </a:rPr>
              <a:t>experiments in one evening, each a one-line hypothesis</a:t>
            </a:r>
            <a:endParaRPr lang="en-US" sz="1100" dirty="0"/>
          </a:p>
        </p:txBody>
      </p:sp>
      <p:sp>
        <p:nvSpPr>
          <p:cNvPr id="36" name="Text 27"/>
          <p:cNvSpPr txBox="1"/>
          <p:nvPr/>
        </p:nvSpPr>
        <p:spPr>
          <a:xfrm>
            <a:off x="5852160" y="2926080"/>
            <a:ext cx="2834640" cy="329184"/>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39</a:t>
            </a:r>
            <a:endParaRPr lang="en-US" sz="2200" dirty="0"/>
          </a:p>
        </p:txBody>
      </p:sp>
      <p:sp>
        <p:nvSpPr>
          <p:cNvPr id="37" name="Text 28"/>
          <p:cNvSpPr txBox="1"/>
          <p:nvPr/>
        </p:nvSpPr>
        <p:spPr>
          <a:xfrm>
            <a:off x="5852160" y="3255264"/>
            <a:ext cx="2834640" cy="310896"/>
          </a:xfrm>
          <a:prstGeom prst="rect">
            <a:avLst/>
          </a:prstGeom>
          <a:noFill/>
          <a:ln/>
        </p:spPr>
        <p:txBody>
          <a:bodyPr wrap="square" lIns="0" tIns="0" rIns="0" bIns="0" rtlCol="0" anchor="ctr"/>
          <a:lstStyle/>
          <a:p>
            <a:pPr indent="0" marL="0">
              <a:buNone/>
            </a:pPr>
            <a:r>
              <a:rPr lang="en-US" sz="1100" dirty="0">
                <a:solidFill>
                  <a:schemeClr val="tx2"/>
                </a:solidFill>
              </a:rPr>
              <a:t>kept. Every kept change is a commit with its score</a:t>
            </a:r>
            <a:endParaRPr lang="en-US" sz="1100" dirty="0"/>
          </a:p>
        </p:txBody>
      </p:sp>
      <p:sp>
        <p:nvSpPr>
          <p:cNvPr id="38" name="Text 29"/>
          <p:cNvSpPr txBox="1"/>
          <p:nvPr/>
        </p:nvSpPr>
        <p:spPr>
          <a:xfrm>
            <a:off x="5852160" y="3566160"/>
            <a:ext cx="2834640" cy="329184"/>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£15.4 → £32.4</a:t>
            </a:r>
            <a:endParaRPr lang="en-US" sz="2200" dirty="0"/>
          </a:p>
        </p:txBody>
      </p:sp>
      <p:sp>
        <p:nvSpPr>
          <p:cNvPr id="39" name="Text 30"/>
          <p:cNvSpPr txBox="1"/>
          <p:nvPr/>
        </p:nvSpPr>
        <p:spPr>
          <a:xfrm>
            <a:off x="5852160" y="3895344"/>
            <a:ext cx="2834640" cy="310896"/>
          </a:xfrm>
          <a:prstGeom prst="rect">
            <a:avLst/>
          </a:prstGeom>
          <a:noFill/>
          <a:ln/>
        </p:spPr>
        <p:txBody>
          <a:bodyPr wrap="square" lIns="0" tIns="0" rIns="0" bIns="0" rtlCol="0" anchor="ctr"/>
          <a:lstStyle/>
          <a:p>
            <a:pPr indent="0" marL="0">
              <a:buNone/>
            </a:pPr>
            <a:r>
              <a:rPr lang="en-US" sz="1100" dirty="0">
                <a:solidFill>
                  <a:schemeClr val="tx2"/>
                </a:solidFill>
              </a:rPr>
              <a:t>£/MW/day on train, seed to current champion</a:t>
            </a:r>
            <a:endParaRPr lang="en-US" sz="1100" dirty="0"/>
          </a:p>
        </p:txBody>
      </p:sp>
      <p:sp>
        <p:nvSpPr>
          <p:cNvPr id="40" name="Text 31"/>
          <p:cNvSpPr txBox="1"/>
          <p:nvPr/>
        </p:nvSpPr>
        <p:spPr>
          <a:xfrm>
            <a:off x="5852160" y="4224528"/>
            <a:ext cx="2834640" cy="457200"/>
          </a:xfrm>
          <a:prstGeom prst="rect">
            <a:avLst/>
          </a:prstGeom>
          <a:noFill/>
          <a:ln/>
        </p:spPr>
        <p:txBody>
          <a:bodyPr wrap="square" lIns="0" tIns="0" rIns="0" bIns="0" rtlCol="0" anchor="t"/>
          <a:lstStyle/>
          <a:p>
            <a:pPr indent="0" marL="0">
              <a:buNone/>
            </a:pPr>
            <a:r>
              <a:rPr lang="en-US" sz="1000" i="1" dirty="0">
                <a:solidFill>
                  <a:schemeClr val="accent3"/>
                </a:solidFill>
              </a:rPr>
              <a:t>This run: a Claude Code agent following program.md. OpenEvolve or LoongFlow drop in via one driver calling the same command.</a:t>
            </a:r>
            <a:endParaRPr lang="en-US" sz="10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Results on real GB prices, window by window</a:t>
            </a:r>
            <a:endParaRPr lang="en-US" sz="2800" dirty="0"/>
          </a:p>
        </p:txBody>
      </p:sp>
      <p:graphicFrame>
        <p:nvGraphicFramePr>
          <p:cNvPr id="7" name="result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651760"/>
                <a:gridCol w="1188720"/>
                <a:gridCol w="1097280"/>
                <a:gridCol w="1097280"/>
                <a:gridCol w="1097280"/>
                <a:gridCol w="1097280"/>
              </a:tblGrid>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Policy</a:t>
                      </a:r>
                      <a:endParaRPr lang="en-US" sz="10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solidFill>
                      <a:srgbClr val="171A2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Train</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Oct 25 to May 26</a:t>
                      </a:r>
                      <a:endParaRPr lang="en-US" sz="10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solidFill>
                      <a:srgbClr val="171A2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Val</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Jun to Jul 26</a:t>
                      </a:r>
                      <a:endParaRPr lang="en-US" sz="10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solidFill>
                      <a:srgbClr val="171A2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Aug to Oct 26</a:t>
                      </a:r>
                      <a:endParaRPr lang="en-US" sz="10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solidFill>
                      <a:srgbClr val="171A2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 of perfect</a:t>
                      </a:r>
                      <a:endParaRPr lang="en-US" sz="10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solidFill>
                      <a:srgbClr val="171A2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cycles/day</a:t>
                      </a:r>
                      <a:endParaRPr lang="en-US" sz="10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solidFill>
                      <a:srgbClr val="171A20"/>
                    </a:solidFill>
                  </a:tcPr>
                </a:tc>
              </a:tr>
              <a:tr h="329184">
                <a:tc>
                  <a:txBody>
                    <a:bodyPr/>
                    <a:lstStyle/>
                    <a:p>
                      <a:pPr algn="l" indent="0" marL="0">
                        <a:buNone/>
                      </a:pPr>
                      <a:r>
                        <a:rPr lang="en-US" sz="1100" dirty="0">
                          <a:solidFill>
                            <a:srgbClr val="171A20"/>
                          </a:solidFill>
                          <a:latin typeface="Calibri" pitchFamily="34" charset="0"/>
                          <a:ea typeface="Calibri" pitchFamily="34" charset="-122"/>
                          <a:cs typeface="Calibri" pitchFamily="34" charset="-120"/>
                        </a:rPr>
                        <a:t>Do nothing</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r>
              <a:tr h="329184">
                <a:tc>
                  <a:txBody>
                    <a:bodyPr/>
                    <a:lstStyle/>
                    <a:p>
                      <a:pPr algn="l" indent="0" marL="0">
                        <a:buNone/>
                      </a:pPr>
                      <a:r>
                        <a:rPr lang="en-US" sz="1100" dirty="0">
                          <a:solidFill>
                            <a:srgbClr val="171A20"/>
                          </a:solidFill>
                          <a:latin typeface="Calibri" pitchFamily="34" charset="0"/>
                          <a:ea typeface="Calibri" pitchFamily="34" charset="-122"/>
                          <a:cs typeface="Calibri" pitchFamily="34" charset="-120"/>
                        </a:rPr>
                        <a:t>Fixed schedule (charge 02 to 04, sell 17 to 19)</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11.1</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9.1</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34.1</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22.3</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0.95</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r>
              <a:tr h="329184">
                <a:tc>
                  <a:txBody>
                    <a:bodyPr/>
                    <a:lstStyle/>
                    <a:p>
                      <a:pPr algn="l" indent="0" marL="0">
                        <a:buNone/>
                      </a:pPr>
                      <a:r>
                        <a:rPr lang="en-US" sz="1100" dirty="0">
                          <a:solidFill>
                            <a:srgbClr val="171A20"/>
                          </a:solidFill>
                          <a:latin typeface="Calibri" pitchFamily="34" charset="0"/>
                          <a:ea typeface="Calibri" pitchFamily="34" charset="-122"/>
                          <a:cs typeface="Calibri" pitchFamily="34" charset="-120"/>
                        </a:rPr>
                        <a:t>Seed rolling-percentile rule</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15.4</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46.9</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55.1</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36.1</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dirty="0">
                          <a:solidFill>
                            <a:srgbClr val="393C41"/>
                          </a:solidFill>
                          <a:latin typeface="Calibri" pitchFamily="34" charset="0"/>
                          <a:ea typeface="Calibri" pitchFamily="34" charset="-122"/>
                          <a:cs typeface="Calibri" pitchFamily="34" charset="-120"/>
                        </a:rPr>
                        <a:t>0.67</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r>
              <a:tr h="365760">
                <a:tc>
                  <a:txBody>
                    <a:bodyPr/>
                    <a:lstStyle/>
                    <a:p>
                      <a:pPr algn="l" indent="0" marL="0">
                        <a:buNone/>
                      </a:pPr>
                      <a:r>
                        <a:rPr lang="en-US" sz="1100" b="1" dirty="0">
                          <a:solidFill>
                            <a:srgbClr val="171A20"/>
                          </a:solidFill>
                          <a:latin typeface="Calibri" pitchFamily="34" charset="0"/>
                          <a:ea typeface="Calibri" pitchFamily="34" charset="-122"/>
                          <a:cs typeface="Calibri" pitchFamily="34" charset="-120"/>
                        </a:rPr>
                        <a:t>Champion (loop output)</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solidFill>
                      <a:srgbClr val="E6F4EA"/>
                    </a:solidFill>
                  </a:tcPr>
                </a:tc>
                <a:tc>
                  <a:txBody>
                    <a:bodyPr/>
                    <a:lstStyle/>
                    <a:p>
                      <a:pPr algn="r" indent="0" marL="0">
                        <a:buNone/>
                      </a:pPr>
                      <a:r>
                        <a:rPr lang="en-US" sz="1100" b="1" dirty="0">
                          <a:solidFill>
                            <a:srgbClr val="393C41"/>
                          </a:solidFill>
                          <a:latin typeface="Calibri" pitchFamily="34" charset="0"/>
                          <a:ea typeface="Calibri" pitchFamily="34" charset="-122"/>
                          <a:cs typeface="Calibri" pitchFamily="34" charset="-120"/>
                        </a:rPr>
                        <a:t>32.4</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solidFill>
                      <a:srgbClr val="E6F4EA"/>
                    </a:solidFill>
                  </a:tcPr>
                </a:tc>
                <a:tc>
                  <a:txBody>
                    <a:bodyPr/>
                    <a:lstStyle/>
                    <a:p>
                      <a:pPr algn="r" indent="0" marL="0">
                        <a:buNone/>
                      </a:pPr>
                      <a:r>
                        <a:rPr lang="en-US" sz="950" i="1" dirty="0">
                          <a:solidFill>
                            <a:srgbClr val="C9A227"/>
                          </a:solidFill>
                          <a:latin typeface="Calibri" pitchFamily="34" charset="0"/>
                          <a:ea typeface="Calibri" pitchFamily="34" charset="-122"/>
                          <a:cs typeface="Calibri" pitchFamily="34" charset="-120"/>
                        </a:rPr>
                        <a:t>61.6</a:t>
                      </a:r>
                      <a:endParaRPr lang="en-US" sz="9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950" i="1" dirty="0">
                          <a:solidFill>
                            <a:srgbClr val="C9A227"/>
                          </a:solidFill>
                          <a:latin typeface="Calibri" pitchFamily="34" charset="0"/>
                          <a:ea typeface="Calibri" pitchFamily="34" charset="-122"/>
                          <a:cs typeface="Calibri" pitchFamily="34" charset="-120"/>
                        </a:rPr>
                        <a:t>70.6</a:t>
                      </a:r>
                      <a:endParaRPr lang="en-US" sz="9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950" i="1" dirty="0">
                          <a:solidFill>
                            <a:srgbClr val="C9A227"/>
                          </a:solidFill>
                          <a:latin typeface="Calibri" pitchFamily="34" charset="0"/>
                          <a:ea typeface="Calibri" pitchFamily="34" charset="-122"/>
                          <a:cs typeface="Calibri" pitchFamily="34" charset="-120"/>
                        </a:rPr>
                        <a:t>46.3</a:t>
                      </a:r>
                      <a:endParaRPr lang="en-US" sz="9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950" i="1" dirty="0">
                          <a:solidFill>
                            <a:srgbClr val="C9A227"/>
                          </a:solidFill>
                          <a:latin typeface="Calibri" pitchFamily="34" charset="0"/>
                          <a:ea typeface="Calibri" pitchFamily="34" charset="-122"/>
                          <a:cs typeface="Calibri" pitchFamily="34" charset="-120"/>
                        </a:rPr>
                        <a:t>0.45</a:t>
                      </a:r>
                      <a:endParaRPr lang="en-US" sz="95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r>
              <a:tr h="329184">
                <a:tc>
                  <a:txBody>
                    <a:bodyPr/>
                    <a:lstStyle/>
                    <a:p>
                      <a:pPr algn="l" indent="0" marL="0">
                        <a:buNone/>
                      </a:pPr>
                      <a:r>
                        <a:rPr lang="en-US" sz="1100" i="1" dirty="0">
                          <a:solidFill>
                            <a:srgbClr val="171A20"/>
                          </a:solidFill>
                          <a:latin typeface="Calibri" pitchFamily="34" charset="0"/>
                          <a:ea typeface="Calibri" pitchFamily="34" charset="-122"/>
                          <a:cs typeface="Calibri" pitchFamily="34" charset="-120"/>
                        </a:rPr>
                        <a:t>Perfect foresight (oracle)</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i="1" dirty="0">
                          <a:solidFill>
                            <a:srgbClr val="393C41"/>
                          </a:solidFill>
                          <a:latin typeface="Calibri" pitchFamily="34" charset="0"/>
                          <a:ea typeface="Calibri" pitchFamily="34" charset="-122"/>
                          <a:cs typeface="Calibri" pitchFamily="34" charset="-120"/>
                        </a:rPr>
                        <a:t>64.9</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i="1" dirty="0">
                          <a:solidFill>
                            <a:srgbClr val="393C41"/>
                          </a:solidFill>
                          <a:latin typeface="Calibri" pitchFamily="34" charset="0"/>
                          <a:ea typeface="Calibri" pitchFamily="34" charset="-122"/>
                          <a:cs typeface="Calibri" pitchFamily="34" charset="-120"/>
                        </a:rPr>
                        <a:t>115.2</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i="1" dirty="0">
                          <a:solidFill>
                            <a:srgbClr val="393C41"/>
                          </a:solidFill>
                          <a:latin typeface="Calibri" pitchFamily="34" charset="0"/>
                          <a:ea typeface="Calibri" pitchFamily="34" charset="-122"/>
                          <a:cs typeface="Calibri" pitchFamily="34" charset="-120"/>
                        </a:rPr>
                        <a:t>152.5</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r>
                        <a:rPr lang="en-US" sz="1100" i="1" dirty="0">
                          <a:solidFill>
                            <a:srgbClr val="393C41"/>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c>
                  <a:txBody>
                    <a:bodyPr/>
                    <a:lstStyle/>
                    <a:p>
                      <a:pPr algn="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0D1D2"/>
                      </a:solidFill>
                      <a:prstDash val="solid"/>
                      <a:round/>
                      <a:headEnd type="none" w="med" len="med"/>
                      <a:tailEnd type="none" w="med" len="med"/>
                    </a:lnL>
                    <a:lnR w="6350" cap="flat" cmpd="sng" algn="ctr">
                      <a:solidFill>
                        <a:srgbClr val="D0D1D2"/>
                      </a:solidFill>
                      <a:prstDash val="solid"/>
                      <a:round/>
                      <a:headEnd type="none" w="med" len="med"/>
                      <a:tailEnd type="none" w="med" len="med"/>
                    </a:lnR>
                    <a:lnT w="6350" cap="flat" cmpd="sng" algn="ctr">
                      <a:solidFill>
                        <a:srgbClr val="D0D1D2"/>
                      </a:solidFill>
                      <a:prstDash val="solid"/>
                      <a:round/>
                      <a:headEnd type="none" w="med" len="med"/>
                      <a:tailEnd type="none" w="med" len="med"/>
                    </a:lnT>
                    <a:lnB w="6350" cap="flat" cmpd="sng" algn="ctr">
                      <a:solidFill>
                        <a:srgbClr val="D0D1D2"/>
                      </a:solidFill>
                      <a:prstDash val="solid"/>
                      <a:round/>
                      <a:headEnd type="none" w="med" len="med"/>
                      <a:tailEnd type="none" w="med" len="med"/>
                    </a:lnB>
                  </a:tcPr>
                </a:tc>
              </a:tr>
            </a:tbl>
          </a:graphicData>
        </a:graphic>
      </p:graphicFrame>
      <p:sp>
        <p:nvSpPr>
          <p:cNvPr id="4" name="Text 1"/>
          <p:cNvSpPr txBox="1"/>
          <p:nvPr/>
        </p:nvSpPr>
        <p:spPr>
          <a:xfrm>
            <a:off x="457200" y="3310128"/>
            <a:ext cx="8229600" cy="502920"/>
          </a:xfrm>
          <a:prstGeom prst="rect">
            <a:avLst/>
          </a:prstGeom>
          <a:noFill/>
          <a:ln/>
        </p:spPr>
        <p:txBody>
          <a:bodyPr wrap="square" lIns="0" tIns="0" rIns="0" bIns="0" rtlCol="0" anchor="ctr"/>
          <a:lstStyle/>
          <a:p>
            <a:pPr indent="0" marL="0">
              <a:buNone/>
            </a:pPr>
            <a:r>
              <a:rPr lang="en-US" sz="1000" dirty="0">
                <a:solidFill>
                  <a:schemeClr val="accent3"/>
                </a:solidFill>
              </a:rPr>
              <a:t>£/MW/day, net of degradation, for a 1 MW / 2 MWh battery. Windows: train 2025-10-02 to 2026-05-31 (242 d), val 2026-06-01 to 2026-07-31 (61 d), test 2026-08-01 to 2026-10-14 (75 d). Prices: Elexon BMRS APX market index. Test and val numbers for baselines come from evaluate.py; champion val and test come from gate.py.</a:t>
            </a:r>
            <a:endParaRPr lang="en-US" sz="1000" dirty="0"/>
          </a:p>
        </p:txBody>
      </p:sp>
      <p:sp>
        <p:nvSpPr>
          <p:cNvPr id="5" name="callout Seed vs champion, train"/>
          <p:cNvSpPr/>
          <p:nvPr/>
        </p:nvSpPr>
        <p:spPr>
          <a:xfrm>
            <a:off x="457200" y="3886200"/>
            <a:ext cx="2651760" cy="777240"/>
          </a:xfrm>
          <a:prstGeom prst="rect">
            <a:avLst/>
          </a:prstGeom>
          <a:solidFill>
            <a:srgbClr val="F4F4F4"/>
          </a:solidFill>
          <a:ln w="12700">
            <a:solidFill>
              <a:srgbClr val="F4F4F4"/>
            </a:solidFill>
            <a:prstDash val="solid"/>
          </a:ln>
        </p:spPr>
        <p:txBody>
          <a:bodyPr/>
          <a:p/>
        </p:txBody>
      </p:sp>
      <p:sp>
        <p:nvSpPr>
          <p:cNvPr id="6" name="Text 3"/>
          <p:cNvSpPr txBox="1"/>
          <p:nvPr/>
        </p:nvSpPr>
        <p:spPr>
          <a:xfrm>
            <a:off x="594360" y="3931920"/>
            <a:ext cx="2377440" cy="201168"/>
          </a:xfrm>
          <a:prstGeom prst="rect">
            <a:avLst/>
          </a:prstGeom>
          <a:noFill/>
          <a:ln/>
        </p:spPr>
        <p:txBody>
          <a:bodyPr wrap="square" lIns="0" tIns="0" rIns="0" bIns="0" rtlCol="0" anchor="ctr"/>
          <a:lstStyle/>
          <a:p>
            <a:pPr indent="0" marL="0">
              <a:buNone/>
            </a:pPr>
            <a:r>
              <a:rPr lang="en-US" sz="1000" dirty="0">
                <a:solidFill>
                  <a:schemeClr val="accent3"/>
                </a:solidFill>
              </a:rPr>
              <a:t>Seed vs champion, train</a:t>
            </a:r>
            <a:endParaRPr lang="en-US" sz="1000" dirty="0"/>
          </a:p>
        </p:txBody>
      </p:sp>
      <p:sp>
        <p:nvSpPr>
          <p:cNvPr id="7" name="Text 4"/>
          <p:cNvSpPr txBox="1"/>
          <p:nvPr/>
        </p:nvSpPr>
        <p:spPr>
          <a:xfrm>
            <a:off x="594360" y="4133088"/>
            <a:ext cx="2377440" cy="274320"/>
          </a:xfrm>
          <a:prstGeom prst="rect">
            <a:avLst/>
          </a:prstGeom>
          <a:noFill/>
          <a:ln/>
        </p:spPr>
        <p:txBody>
          <a:bodyPr wrap="square" lIns="0" tIns="0" rIns="0" bIns="0" rtlCol="0" anchor="ctr"/>
          <a:lstStyle/>
          <a:p>
            <a:pPr indent="0" marL="0">
              <a:buNone/>
            </a:pPr>
            <a:r>
              <a:rPr lang="en-US" sz="1400" b="1" dirty="0">
                <a:solidFill>
                  <a:schemeClr val="accent1"/>
                </a:solidFill>
                <a:latin typeface="Arial" pitchFamily="34" charset="0"/>
                <a:ea typeface="Arial" pitchFamily="34" charset="-122"/>
                <a:cs typeface="Arial" pitchFamily="34" charset="-120"/>
              </a:rPr>
              <a:t>£15.4 → £32.4</a:t>
            </a:r>
            <a:endParaRPr lang="en-US" sz="1400" dirty="0"/>
          </a:p>
        </p:txBody>
      </p:sp>
      <p:sp>
        <p:nvSpPr>
          <p:cNvPr id="8" name="Text 5"/>
          <p:cNvSpPr txBox="1"/>
          <p:nvPr/>
        </p:nvSpPr>
        <p:spPr>
          <a:xfrm>
            <a:off x="594360" y="4407408"/>
            <a:ext cx="2377440" cy="228600"/>
          </a:xfrm>
          <a:prstGeom prst="rect">
            <a:avLst/>
          </a:prstGeom>
          <a:noFill/>
          <a:ln/>
        </p:spPr>
        <p:txBody>
          <a:bodyPr wrap="square" lIns="0" tIns="0" rIns="0" bIns="0" rtlCol="0" anchor="ctr"/>
          <a:lstStyle/>
          <a:p>
            <a:pPr indent="0" marL="0">
              <a:buNone/>
            </a:pPr>
            <a:r>
              <a:rPr lang="en-US" sz="950" dirty="0">
                <a:solidFill>
                  <a:schemeClr val="tx2"/>
                </a:solidFill>
              </a:rPr>
              <a:t>23.7% → 49.9% of perfect</a:t>
            </a:r>
            <a:endParaRPr lang="en-US" sz="950" dirty="0"/>
          </a:p>
        </p:txBody>
      </p:sp>
      <p:sp>
        <p:nvSpPr>
          <p:cNvPr id="9" name="callout Seed vs champion, test"/>
          <p:cNvSpPr/>
          <p:nvPr/>
        </p:nvSpPr>
        <p:spPr>
          <a:xfrm>
            <a:off x="3246120" y="3886200"/>
            <a:ext cx="2651760" cy="777240"/>
          </a:xfrm>
          <a:prstGeom prst="rect">
            <a:avLst/>
          </a:prstGeom>
          <a:solidFill>
            <a:srgbClr val="F4F4F4"/>
          </a:solidFill>
          <a:ln w="12700">
            <a:solidFill>
              <a:srgbClr val="F4F4F4"/>
            </a:solidFill>
            <a:prstDash val="solid"/>
          </a:ln>
        </p:spPr>
        <p:txBody>
          <a:bodyPr/>
          <a:p/>
        </p:txBody>
      </p:sp>
      <p:sp>
        <p:nvSpPr>
          <p:cNvPr id="10" name="Text 7"/>
          <p:cNvSpPr txBox="1"/>
          <p:nvPr/>
        </p:nvSpPr>
        <p:spPr>
          <a:xfrm>
            <a:off x="3383280" y="3931920"/>
            <a:ext cx="2377440" cy="201168"/>
          </a:xfrm>
          <a:prstGeom prst="rect">
            <a:avLst/>
          </a:prstGeom>
          <a:noFill/>
          <a:ln/>
        </p:spPr>
        <p:txBody>
          <a:bodyPr wrap="square" lIns="0" tIns="0" rIns="0" bIns="0" rtlCol="0" anchor="ctr"/>
          <a:lstStyle/>
          <a:p>
            <a:pPr indent="0" marL="0">
              <a:buNone/>
            </a:pPr>
            <a:r>
              <a:rPr lang="en-US" sz="1000" dirty="0">
                <a:solidFill>
                  <a:schemeClr val="accent3"/>
                </a:solidFill>
              </a:rPr>
              <a:t>Seed vs champion, test</a:t>
            </a:r>
            <a:endParaRPr lang="en-US" sz="1000" dirty="0"/>
          </a:p>
        </p:txBody>
      </p:sp>
      <p:sp>
        <p:nvSpPr>
          <p:cNvPr id="11" name="Text 8"/>
          <p:cNvSpPr txBox="1"/>
          <p:nvPr/>
        </p:nvSpPr>
        <p:spPr>
          <a:xfrm>
            <a:off x="3383280" y="4133088"/>
            <a:ext cx="2377440" cy="274320"/>
          </a:xfrm>
          <a:prstGeom prst="rect">
            <a:avLst/>
          </a:prstGeom>
          <a:noFill/>
          <a:ln/>
        </p:spPr>
        <p:txBody>
          <a:bodyPr wrap="square" lIns="0" tIns="0" rIns="0" bIns="0" rtlCol="0" anchor="ctr"/>
          <a:lstStyle/>
          <a:p>
            <a:pPr indent="0" marL="0">
              <a:buNone/>
            </a:pPr>
            <a:r>
              <a:rPr lang="en-US" sz="1400" b="1" dirty="0">
                <a:solidFill>
                  <a:schemeClr val="accent4"/>
                </a:solidFill>
                <a:latin typeface="Arial" pitchFamily="34" charset="0"/>
                <a:ea typeface="Arial" pitchFamily="34" charset="-122"/>
                <a:cs typeface="Arial" pitchFamily="34" charset="-120"/>
              </a:rPr>
              <a:t>£55.1 → £70.6</a:t>
            </a:r>
            <a:endParaRPr lang="en-US" sz="1400" dirty="0"/>
          </a:p>
        </p:txBody>
      </p:sp>
      <p:sp>
        <p:nvSpPr>
          <p:cNvPr id="12" name="Text 9"/>
          <p:cNvSpPr txBox="1"/>
          <p:nvPr/>
        </p:nvSpPr>
        <p:spPr>
          <a:xfrm>
            <a:off x="3383280" y="4407408"/>
            <a:ext cx="2377440" cy="228600"/>
          </a:xfrm>
          <a:prstGeom prst="rect">
            <a:avLst/>
          </a:prstGeom>
          <a:noFill/>
          <a:ln/>
        </p:spPr>
        <p:txBody>
          <a:bodyPr wrap="square" lIns="0" tIns="0" rIns="0" bIns="0" rtlCol="0" anchor="ctr"/>
          <a:lstStyle/>
          <a:p>
            <a:pPr indent="0" marL="0">
              <a:buNone/>
            </a:pPr>
            <a:r>
              <a:rPr lang="en-US" sz="950" dirty="0">
                <a:solidFill>
                  <a:schemeClr val="tx2"/>
                </a:solidFill>
              </a:rPr>
              <a:t>36.1% → 46.3% of perfect, +28%</a:t>
            </a:r>
            <a:endParaRPr lang="en-US" sz="950" dirty="0"/>
          </a:p>
        </p:txBody>
      </p:sp>
      <p:sp>
        <p:nvSpPr>
          <p:cNvPr id="13" name="callout Why £/day leads"/>
          <p:cNvSpPr/>
          <p:nvPr/>
        </p:nvSpPr>
        <p:spPr>
          <a:xfrm>
            <a:off x="6035040" y="3886200"/>
            <a:ext cx="2651760" cy="777240"/>
          </a:xfrm>
          <a:prstGeom prst="rect">
            <a:avLst/>
          </a:prstGeom>
          <a:solidFill>
            <a:srgbClr val="F4F4F4"/>
          </a:solidFill>
          <a:ln w="12700">
            <a:solidFill>
              <a:srgbClr val="F4F4F4"/>
            </a:solidFill>
            <a:prstDash val="solid"/>
          </a:ln>
        </p:spPr>
        <p:txBody>
          <a:bodyPr/>
          <a:p/>
        </p:txBody>
      </p:sp>
      <p:sp>
        <p:nvSpPr>
          <p:cNvPr id="14" name="Text 11"/>
          <p:cNvSpPr txBox="1"/>
          <p:nvPr/>
        </p:nvSpPr>
        <p:spPr>
          <a:xfrm>
            <a:off x="6172200" y="3931920"/>
            <a:ext cx="2377440" cy="201168"/>
          </a:xfrm>
          <a:prstGeom prst="rect">
            <a:avLst/>
          </a:prstGeom>
          <a:noFill/>
          <a:ln/>
        </p:spPr>
        <p:txBody>
          <a:bodyPr wrap="square" lIns="0" tIns="0" rIns="0" bIns="0" rtlCol="0" anchor="ctr"/>
          <a:lstStyle/>
          <a:p>
            <a:pPr indent="0" marL="0">
              <a:buNone/>
            </a:pPr>
            <a:r>
              <a:rPr lang="en-US" sz="1000" dirty="0">
                <a:solidFill>
                  <a:schemeClr val="accent3"/>
                </a:solidFill>
              </a:rPr>
              <a:t>Why £/day leads</a:t>
            </a:r>
            <a:endParaRPr lang="en-US" sz="1000" dirty="0"/>
          </a:p>
        </p:txBody>
      </p:sp>
      <p:sp>
        <p:nvSpPr>
          <p:cNvPr id="15" name="Text 12"/>
          <p:cNvSpPr txBox="1"/>
          <p:nvPr/>
        </p:nvSpPr>
        <p:spPr>
          <a:xfrm>
            <a:off x="6172200" y="4133088"/>
            <a:ext cx="2377440" cy="274320"/>
          </a:xfrm>
          <a:prstGeom prst="rect">
            <a:avLst/>
          </a:prstGeom>
          <a:noFill/>
          <a:ln/>
        </p:spPr>
        <p:txBody>
          <a:bodyPr wrap="square" lIns="0" tIns="0" rIns="0" bIns="0" rtlCol="0" anchor="ctr"/>
          <a:lstStyle/>
          <a:p>
            <a:pPr indent="0" marL="0">
              <a:buNone/>
            </a:pPr>
            <a:r>
              <a:rPr lang="en-US" sz="1400" b="1" dirty="0">
                <a:solidFill>
                  <a:schemeClr val="accent1"/>
                </a:solidFill>
                <a:latin typeface="Arial" pitchFamily="34" charset="0"/>
                <a:ea typeface="Arial" pitchFamily="34" charset="-122"/>
                <a:cs typeface="Arial" pitchFamily="34" charset="-120"/>
              </a:rPr>
              <a:t>Volatility, not skill</a:t>
            </a:r>
            <a:endParaRPr lang="en-US" sz="1400" dirty="0"/>
          </a:p>
        </p:txBody>
      </p:sp>
      <p:sp>
        <p:nvSpPr>
          <p:cNvPr id="16" name="Text 13"/>
          <p:cNvSpPr txBox="1"/>
          <p:nvPr/>
        </p:nvSpPr>
        <p:spPr>
          <a:xfrm>
            <a:off x="6172200" y="4407408"/>
            <a:ext cx="2377440" cy="228600"/>
          </a:xfrm>
          <a:prstGeom prst="rect">
            <a:avLst/>
          </a:prstGeom>
          <a:noFill/>
          <a:ln/>
        </p:spPr>
        <p:txBody>
          <a:bodyPr wrap="square" lIns="0" tIns="0" rIns="0" bIns="0" rtlCol="0" anchor="ctr"/>
          <a:lstStyle/>
          <a:p>
            <a:pPr indent="0" marL="0">
              <a:buNone/>
            </a:pPr>
            <a:r>
              <a:rPr lang="en-US" sz="950" dirty="0">
                <a:solidFill>
                  <a:schemeClr val="tx2"/>
                </a:solidFill>
              </a:rPr>
              <a:t>daily price spread 1.4× and 1.7× train's, ceiling 1.8× and 2.3×; % of perfect tracks that</a:t>
            </a:r>
            <a:endParaRPr lang="en-US" sz="95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 test week the rule never trained on</a:t>
            </a:r>
            <a:endParaRPr lang="en-US" sz="2800" dirty="0"/>
          </a:p>
        </p:txBody>
      </p:sp>
      <p:sp>
        <p:nvSpPr>
          <p:cNvPr id="5" name="week legend card"/>
          <p:cNvSpPr/>
          <p:nvPr/>
        </p:nvSpPr>
        <p:spPr>
          <a:xfrm>
            <a:off x="7315200" y="1051560"/>
            <a:ext cx="1371600" cy="3611880"/>
          </a:xfrm>
          <a:prstGeom prst="rect">
            <a:avLst/>
          </a:prstGeom>
          <a:solidFill>
            <a:srgbClr val="F4F4F4"/>
          </a:solidFill>
          <a:ln w="12700">
            <a:solidFill>
              <a:srgbClr val="F4F4F4"/>
            </a:solidFill>
            <a:prstDash val="solid"/>
          </a:ln>
        </p:spPr>
        <p:txBody>
          <a:bodyPr/>
          <a:p/>
        </p:txBody>
      </p:sp>
      <p:sp>
        <p:nvSpPr>
          <p:cNvPr id="6" name="charge dot"/>
          <p:cNvSpPr/>
          <p:nvPr/>
        </p:nvSpPr>
        <p:spPr>
          <a:xfrm>
            <a:off x="7452360" y="1234440"/>
            <a:ext cx="164592" cy="164592"/>
          </a:xfrm>
          <a:prstGeom prst="ellipse">
            <a:avLst/>
          </a:prstGeom>
          <a:solidFill>
            <a:srgbClr val="2A6A4A"/>
          </a:solidFill>
          <a:ln w="12700">
            <a:solidFill>
              <a:srgbClr val="2A6A4A"/>
            </a:solidFill>
            <a:prstDash val="solid"/>
          </a:ln>
        </p:spPr>
        <p:txBody>
          <a:bodyPr/>
          <a:p/>
        </p:txBody>
      </p:sp>
      <p:sp>
        <p:nvSpPr>
          <p:cNvPr id="7" name="Text 4"/>
          <p:cNvSpPr txBox="1"/>
          <p:nvPr/>
        </p:nvSpPr>
        <p:spPr>
          <a:xfrm>
            <a:off x="7680960" y="1188720"/>
            <a:ext cx="960120" cy="256032"/>
          </a:xfrm>
          <a:prstGeom prst="rect">
            <a:avLst/>
          </a:prstGeom>
          <a:noFill/>
          <a:ln/>
        </p:spPr>
        <p:txBody>
          <a:bodyPr wrap="square" lIns="0" tIns="0" rIns="0" bIns="0" rtlCol="0" anchor="ctr"/>
          <a:lstStyle/>
          <a:p>
            <a:pPr indent="0" marL="0">
              <a:buNone/>
            </a:pPr>
            <a:r>
              <a:rPr lang="en-US" sz="1050" dirty="0">
                <a:solidFill>
                  <a:schemeClr val="tx1"/>
                </a:solidFill>
              </a:rPr>
              <a:t>charges (buys)</a:t>
            </a:r>
            <a:endParaRPr lang="en-US" sz="1050" dirty="0"/>
          </a:p>
        </p:txBody>
      </p:sp>
      <p:sp>
        <p:nvSpPr>
          <p:cNvPr id="8" name="discharge dot"/>
          <p:cNvSpPr/>
          <p:nvPr/>
        </p:nvSpPr>
        <p:spPr>
          <a:xfrm>
            <a:off x="7452360" y="1572768"/>
            <a:ext cx="164592" cy="164592"/>
          </a:xfrm>
          <a:prstGeom prst="ellipse">
            <a:avLst/>
          </a:prstGeom>
          <a:solidFill>
            <a:srgbClr val="B03A2E"/>
          </a:solidFill>
          <a:ln w="12700">
            <a:solidFill>
              <a:srgbClr val="B03A2E"/>
            </a:solidFill>
            <a:prstDash val="solid"/>
          </a:ln>
        </p:spPr>
        <p:txBody>
          <a:bodyPr/>
          <a:p/>
        </p:txBody>
      </p:sp>
      <p:sp>
        <p:nvSpPr>
          <p:cNvPr id="9" name="Text 6"/>
          <p:cNvSpPr txBox="1"/>
          <p:nvPr/>
        </p:nvSpPr>
        <p:spPr>
          <a:xfrm>
            <a:off x="7680960" y="1527048"/>
            <a:ext cx="960120" cy="256032"/>
          </a:xfrm>
          <a:prstGeom prst="rect">
            <a:avLst/>
          </a:prstGeom>
          <a:noFill/>
          <a:ln/>
        </p:spPr>
        <p:txBody>
          <a:bodyPr wrap="square" lIns="0" tIns="0" rIns="0" bIns="0" rtlCol="0" anchor="ctr"/>
          <a:lstStyle/>
          <a:p>
            <a:pPr indent="0" marL="0">
              <a:buNone/>
            </a:pPr>
            <a:r>
              <a:rPr lang="en-US" sz="1050" dirty="0">
                <a:solidFill>
                  <a:schemeClr val="tx1"/>
                </a:solidFill>
              </a:rPr>
              <a:t>discharges (sells)</a:t>
            </a:r>
            <a:endParaRPr lang="en-US" sz="1050" dirty="0"/>
          </a:p>
        </p:txBody>
      </p:sp>
      <p:sp>
        <p:nvSpPr>
          <p:cNvPr id="10" name="Text 7"/>
          <p:cNvSpPr txBox="1"/>
          <p:nvPr/>
        </p:nvSpPr>
        <p:spPr>
          <a:xfrm>
            <a:off x="7452360" y="1965960"/>
            <a:ext cx="1143000" cy="2560320"/>
          </a:xfrm>
          <a:prstGeom prst="rect">
            <a:avLst/>
          </a:prstGeom>
          <a:noFill/>
          <a:ln/>
        </p:spPr>
        <p:txBody>
          <a:bodyPr wrap="square" lIns="0" tIns="0" rIns="0" bIns="0" rtlCol="0" anchor="t"/>
          <a:lstStyle/>
          <a:p>
            <a:pPr indent="0" marL="0">
              <a:buNone/>
            </a:pPr>
            <a:r>
              <a:rPr lang="en-US" sz="1050" dirty="0">
                <a:solidFill>
                  <a:schemeClr val="tx2"/>
                </a:solidFill>
              </a:rPr>
              <a:t>Test window only. The rule had the first test week as history and nothing else.</a:t>
            </a:r>
            <a:endParaRPr lang="en-US" sz="1050" dirty="0"/>
          </a:p>
          <a:p>
            <a:pPr indent="0" marL="0">
              <a:buNone/>
            </a:pPr>
            <a:endParaRPr lang="en-US" sz="1050" dirty="0"/>
          </a:p>
          <a:p>
            <a:pPr indent="0" marL="0">
              <a:buNone/>
            </a:pPr>
            <a:r>
              <a:rPr lang="en-US" sz="1050" dirty="0">
                <a:solidFill>
                  <a:schemeClr val="tx2"/>
                </a:solidFill>
              </a:rPr>
              <a:t>It was never told an overnight trough or an evening peak exists.</a:t>
            </a:r>
            <a:endParaRPr lang="en-US" sz="105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7</a:t>
            </a:fld>
            <a:endParaRPr lang="en-US"/>
          </a:p>
        </p:txBody>
      </p:sp>
      <p:pic>
        <p:nvPicPr>
          <p:cNvPr id="26" name="Picture 25" descr="test_week.png"/>
          <p:cNvPicPr>
            <a:picLocks noChangeAspect="1"/>
          </p:cNvPicPr>
          <p:nvPr/>
        </p:nvPicPr>
        <p:blipFill>
          <a:blip r:embed="rId4"/>
          <a:stretch>
            <a:fillRect/>
          </a:stretch>
        </p:blipFill>
        <p:spPr>
          <a:xfrm>
            <a:off x="457200" y="1051560"/>
            <a:ext cx="6675120" cy="36409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Runs as a weekly job and opens a pull request</a:t>
            </a:r>
            <a:endParaRPr lang="en-US" sz="2800" dirty="0"/>
          </a:p>
        </p:txBody>
      </p:sp>
      <p:sp>
        <p:nvSpPr>
          <p:cNvPr id="3" name="adoption Fetch"/>
          <p:cNvSpPr/>
          <p:nvPr/>
        </p:nvSpPr>
        <p:spPr>
          <a:xfrm>
            <a:off x="457200" y="1097280"/>
            <a:ext cx="1920240" cy="1417320"/>
          </a:xfrm>
          <a:prstGeom prst="roundRect">
            <a:avLst>
              <a:gd name="adj" fmla="val 3871"/>
            </a:avLst>
          </a:prstGeom>
          <a:solidFill>
            <a:srgbClr val="171A20"/>
          </a:solidFill>
          <a:ln w="12700">
            <a:solidFill>
              <a:srgbClr val="171A20"/>
            </a:solidFill>
            <a:prstDash val="solid"/>
          </a:ln>
        </p:spPr>
        <p:txBody>
          <a:bodyPr/>
          <a:p/>
        </p:txBody>
      </p:sp>
      <p:pic>
        <p:nvPicPr>
          <p:cNvPr id="4" name="FiDownload" descr="preencoded.png">    </p:cNvPr>
          <p:cNvPicPr>
            <a:picLocks noChangeAspect="1"/>
          </p:cNvPicPr>
          <p:nvPr/>
        </p:nvPicPr>
        <p:blipFill>
          <a:blip r:embed="rId1"/>
          <a:stretch>
            <a:fillRect/>
          </a:stretch>
        </p:blipFill>
        <p:spPr>
          <a:xfrm>
            <a:off x="640080" y="1261872"/>
            <a:ext cx="365760" cy="365760"/>
          </a:xfrm>
          <a:prstGeom prst="rect">
            <a:avLst/>
          </a:prstGeom>
        </p:spPr>
      </p:pic>
      <p:sp>
        <p:nvSpPr>
          <p:cNvPr id="5" name="Text 2"/>
          <p:cNvSpPr txBox="1"/>
          <p:nvPr/>
        </p:nvSpPr>
        <p:spPr>
          <a:xfrm>
            <a:off x="640080" y="1691640"/>
            <a:ext cx="1600200" cy="292608"/>
          </a:xfrm>
          <a:prstGeom prst="rect">
            <a:avLst/>
          </a:prstGeom>
          <a:noFill/>
          <a:ln/>
        </p:spPr>
        <p:txBody>
          <a:bodyPr wrap="square" lIns="0" tIns="0" rIns="0" bIns="0" rtlCol="0" anchor="ctr"/>
          <a:lstStyle/>
          <a:p>
            <a:pPr indent="0" marL="0">
              <a:buNone/>
            </a:pPr>
            <a:r>
              <a:rPr lang="en-US" sz="1500" b="1" dirty="0">
                <a:solidFill>
                  <a:schemeClr val="bg1"/>
                </a:solidFill>
                <a:latin typeface="Arial" pitchFamily="34" charset="0"/>
                <a:ea typeface="Arial" pitchFamily="34" charset="-122"/>
                <a:cs typeface="Arial" pitchFamily="34" charset="-120"/>
              </a:rPr>
              <a:t>1. Fetch</a:t>
            </a:r>
            <a:endParaRPr lang="en-US" sz="1500" dirty="0"/>
          </a:p>
        </p:txBody>
      </p:sp>
      <p:sp>
        <p:nvSpPr>
          <p:cNvPr id="6" name="Text 3"/>
          <p:cNvSpPr txBox="1"/>
          <p:nvPr/>
        </p:nvSpPr>
        <p:spPr>
          <a:xfrm>
            <a:off x="640080" y="1984248"/>
            <a:ext cx="1600200" cy="457200"/>
          </a:xfrm>
          <a:prstGeom prst="rect">
            <a:avLst/>
          </a:prstGeom>
          <a:noFill/>
          <a:ln/>
        </p:spPr>
        <p:txBody>
          <a:bodyPr wrap="square" lIns="0" tIns="0" rIns="0" bIns="0" rtlCol="0" anchor="ctr"/>
          <a:lstStyle/>
          <a:p>
            <a:pPr indent="0" marL="0">
              <a:buNone/>
            </a:pPr>
            <a:r>
              <a:rPr lang="en-US" sz="1150" dirty="0">
                <a:solidFill>
                  <a:schemeClr val="accent6"/>
                </a:solidFill>
              </a:rPr>
              <a:t>the latest prices from Elexon</a:t>
            </a:r>
            <a:endParaRPr lang="en-US" sz="1150" dirty="0"/>
          </a:p>
        </p:txBody>
      </p:sp>
      <p:sp>
        <p:nvSpPr>
          <p:cNvPr id="7" name="adoption Search"/>
          <p:cNvSpPr/>
          <p:nvPr/>
        </p:nvSpPr>
        <p:spPr>
          <a:xfrm>
            <a:off x="2560320" y="1097280"/>
            <a:ext cx="1920240" cy="1417320"/>
          </a:xfrm>
          <a:prstGeom prst="roundRect">
            <a:avLst>
              <a:gd name="adj" fmla="val 3871"/>
            </a:avLst>
          </a:prstGeom>
          <a:solidFill>
            <a:srgbClr val="171A20"/>
          </a:solidFill>
          <a:ln w="12700">
            <a:solidFill>
              <a:srgbClr val="171A20"/>
            </a:solidFill>
            <a:prstDash val="solid"/>
          </a:ln>
        </p:spPr>
        <p:txBody>
          <a:bodyPr/>
          <a:p/>
        </p:txBody>
      </p:sp>
      <p:pic>
        <p:nvPicPr>
          <p:cNvPr id="8" name="FiRefreshCw" descr="preencoded.png">    </p:cNvPr>
          <p:cNvPicPr>
            <a:picLocks noChangeAspect="1"/>
          </p:cNvPicPr>
          <p:nvPr/>
        </p:nvPicPr>
        <p:blipFill>
          <a:blip r:embed="rId2"/>
          <a:stretch>
            <a:fillRect/>
          </a:stretch>
        </p:blipFill>
        <p:spPr>
          <a:xfrm>
            <a:off x="2743200" y="1261872"/>
            <a:ext cx="365760" cy="365760"/>
          </a:xfrm>
          <a:prstGeom prst="rect">
            <a:avLst/>
          </a:prstGeom>
        </p:spPr>
      </p:pic>
      <p:sp>
        <p:nvSpPr>
          <p:cNvPr id="9" name="Text 5"/>
          <p:cNvSpPr txBox="1"/>
          <p:nvPr/>
        </p:nvSpPr>
        <p:spPr>
          <a:xfrm>
            <a:off x="2743200" y="1691640"/>
            <a:ext cx="1600200" cy="292608"/>
          </a:xfrm>
          <a:prstGeom prst="rect">
            <a:avLst/>
          </a:prstGeom>
          <a:noFill/>
          <a:ln/>
        </p:spPr>
        <p:txBody>
          <a:bodyPr wrap="square" lIns="0" tIns="0" rIns="0" bIns="0" rtlCol="0" anchor="ctr"/>
          <a:lstStyle/>
          <a:p>
            <a:pPr indent="0" marL="0">
              <a:buNone/>
            </a:pPr>
            <a:r>
              <a:rPr lang="en-US" sz="1500" b="1" dirty="0">
                <a:solidFill>
                  <a:schemeClr val="bg1"/>
                </a:solidFill>
                <a:latin typeface="Arial" pitchFamily="34" charset="0"/>
                <a:ea typeface="Arial" pitchFamily="34" charset="-122"/>
                <a:cs typeface="Arial" pitchFamily="34" charset="-120"/>
              </a:rPr>
              <a:t>2. Search</a:t>
            </a:r>
            <a:endParaRPr lang="en-US" sz="1500" dirty="0"/>
          </a:p>
        </p:txBody>
      </p:sp>
      <p:sp>
        <p:nvSpPr>
          <p:cNvPr id="10" name="Text 6"/>
          <p:cNvSpPr txBox="1"/>
          <p:nvPr/>
        </p:nvSpPr>
        <p:spPr>
          <a:xfrm>
            <a:off x="2743200" y="1984248"/>
            <a:ext cx="1600200" cy="457200"/>
          </a:xfrm>
          <a:prstGeom prst="rect">
            <a:avLst/>
          </a:prstGeom>
          <a:noFill/>
          <a:ln/>
        </p:spPr>
        <p:txBody>
          <a:bodyPr wrap="square" lIns="0" tIns="0" rIns="0" bIns="0" rtlCol="0" anchor="ctr"/>
          <a:lstStyle/>
          <a:p>
            <a:pPr indent="0" marL="0">
              <a:buNone/>
            </a:pPr>
            <a:r>
              <a:rPr lang="en-US" sz="1150" dirty="0">
                <a:solidFill>
                  <a:schemeClr val="accent6"/>
                </a:solidFill>
              </a:rPr>
              <a:t>re-run the loop on a rolling window</a:t>
            </a:r>
            <a:endParaRPr lang="en-US" sz="1150" dirty="0"/>
          </a:p>
        </p:txBody>
      </p:sp>
      <p:sp>
        <p:nvSpPr>
          <p:cNvPr id="11" name="adoption Gate"/>
          <p:cNvSpPr/>
          <p:nvPr/>
        </p:nvSpPr>
        <p:spPr>
          <a:xfrm>
            <a:off x="4663440" y="1097280"/>
            <a:ext cx="1920240" cy="1417320"/>
          </a:xfrm>
          <a:prstGeom prst="roundRect">
            <a:avLst>
              <a:gd name="adj" fmla="val 3871"/>
            </a:avLst>
          </a:prstGeom>
          <a:solidFill>
            <a:srgbClr val="171A20"/>
          </a:solidFill>
          <a:ln w="12700">
            <a:solidFill>
              <a:srgbClr val="171A20"/>
            </a:solidFill>
            <a:prstDash val="solid"/>
          </a:ln>
        </p:spPr>
        <p:txBody>
          <a:bodyPr/>
          <a:p/>
        </p:txBody>
      </p:sp>
      <p:pic>
        <p:nvPicPr>
          <p:cNvPr id="12" name="FiCheckCircle" descr="preencoded.png">    </p:cNvPr>
          <p:cNvPicPr>
            <a:picLocks noChangeAspect="1"/>
          </p:cNvPicPr>
          <p:nvPr/>
        </p:nvPicPr>
        <p:blipFill>
          <a:blip r:embed="rId3"/>
          <a:stretch>
            <a:fillRect/>
          </a:stretch>
        </p:blipFill>
        <p:spPr>
          <a:xfrm>
            <a:off x="4846320" y="1261872"/>
            <a:ext cx="365760" cy="365760"/>
          </a:xfrm>
          <a:prstGeom prst="rect">
            <a:avLst/>
          </a:prstGeom>
        </p:spPr>
      </p:pic>
      <p:sp>
        <p:nvSpPr>
          <p:cNvPr id="13" name="Text 8"/>
          <p:cNvSpPr txBox="1"/>
          <p:nvPr/>
        </p:nvSpPr>
        <p:spPr>
          <a:xfrm>
            <a:off x="4846320" y="1691640"/>
            <a:ext cx="1600200" cy="292608"/>
          </a:xfrm>
          <a:prstGeom prst="rect">
            <a:avLst/>
          </a:prstGeom>
          <a:noFill/>
          <a:ln/>
        </p:spPr>
        <p:txBody>
          <a:bodyPr wrap="square" lIns="0" tIns="0" rIns="0" bIns="0" rtlCol="0" anchor="ctr"/>
          <a:lstStyle/>
          <a:p>
            <a:pPr indent="0" marL="0">
              <a:buNone/>
            </a:pPr>
            <a:r>
              <a:rPr lang="en-US" sz="1500" b="1" dirty="0">
                <a:solidFill>
                  <a:schemeClr val="bg1"/>
                </a:solidFill>
                <a:latin typeface="Arial" pitchFamily="34" charset="0"/>
                <a:ea typeface="Arial" pitchFamily="34" charset="-122"/>
                <a:cs typeface="Arial" pitchFamily="34" charset="-120"/>
              </a:rPr>
              <a:t>3. Gate</a:t>
            </a:r>
            <a:endParaRPr lang="en-US" sz="1500" dirty="0"/>
          </a:p>
        </p:txBody>
      </p:sp>
      <p:sp>
        <p:nvSpPr>
          <p:cNvPr id="14" name="Text 9"/>
          <p:cNvSpPr txBox="1"/>
          <p:nvPr/>
        </p:nvSpPr>
        <p:spPr>
          <a:xfrm>
            <a:off x="4846320" y="1984248"/>
            <a:ext cx="1600200" cy="457200"/>
          </a:xfrm>
          <a:prstGeom prst="rect">
            <a:avLst/>
          </a:prstGeom>
          <a:noFill/>
          <a:ln/>
        </p:spPr>
        <p:txBody>
          <a:bodyPr wrap="square" lIns="0" tIns="0" rIns="0" bIns="0" rtlCol="0" anchor="ctr"/>
          <a:lstStyle/>
          <a:p>
            <a:pPr indent="0" marL="0">
              <a:buNone/>
            </a:pPr>
            <a:r>
              <a:rPr lang="en-US" sz="1150" dirty="0">
                <a:solidFill>
                  <a:schemeClr val="accent6"/>
                </a:solidFill>
              </a:rPr>
              <a:t>on the newest month, never seen by the loop</a:t>
            </a:r>
            <a:endParaRPr lang="en-US" sz="1150" dirty="0"/>
          </a:p>
        </p:txBody>
      </p:sp>
      <p:sp>
        <p:nvSpPr>
          <p:cNvPr id="15" name="adoption Open a PR"/>
          <p:cNvSpPr/>
          <p:nvPr/>
        </p:nvSpPr>
        <p:spPr>
          <a:xfrm>
            <a:off x="6766560" y="1097280"/>
            <a:ext cx="1920240" cy="1417320"/>
          </a:xfrm>
          <a:prstGeom prst="roundRect">
            <a:avLst>
              <a:gd name="adj" fmla="val 3871"/>
            </a:avLst>
          </a:prstGeom>
          <a:solidFill>
            <a:srgbClr val="171A20"/>
          </a:solidFill>
          <a:ln w="12700">
            <a:solidFill>
              <a:srgbClr val="171A20"/>
            </a:solidFill>
            <a:prstDash val="solid"/>
          </a:ln>
        </p:spPr>
        <p:txBody>
          <a:bodyPr/>
          <a:p/>
        </p:txBody>
      </p:sp>
      <p:pic>
        <p:nvPicPr>
          <p:cNvPr id="16" name="FiGitPullRequest" descr="preencoded.png">    </p:cNvPr>
          <p:cNvPicPr>
            <a:picLocks noChangeAspect="1"/>
          </p:cNvPicPr>
          <p:nvPr/>
        </p:nvPicPr>
        <p:blipFill>
          <a:blip r:embed="rId4"/>
          <a:stretch>
            <a:fillRect/>
          </a:stretch>
        </p:blipFill>
        <p:spPr>
          <a:xfrm>
            <a:off x="6949440" y="1261872"/>
            <a:ext cx="365760" cy="365760"/>
          </a:xfrm>
          <a:prstGeom prst="rect">
            <a:avLst/>
          </a:prstGeom>
        </p:spPr>
      </p:pic>
      <p:sp>
        <p:nvSpPr>
          <p:cNvPr id="17" name="Text 11"/>
          <p:cNvSpPr txBox="1"/>
          <p:nvPr/>
        </p:nvSpPr>
        <p:spPr>
          <a:xfrm>
            <a:off x="6949440" y="1691640"/>
            <a:ext cx="1600200" cy="292608"/>
          </a:xfrm>
          <a:prstGeom prst="rect">
            <a:avLst/>
          </a:prstGeom>
          <a:noFill/>
          <a:ln/>
        </p:spPr>
        <p:txBody>
          <a:bodyPr wrap="square" lIns="0" tIns="0" rIns="0" bIns="0" rtlCol="0" anchor="ctr"/>
          <a:lstStyle/>
          <a:p>
            <a:pPr indent="0" marL="0">
              <a:buNone/>
            </a:pPr>
            <a:r>
              <a:rPr lang="en-US" sz="1500" b="1" dirty="0">
                <a:solidFill>
                  <a:schemeClr val="bg1"/>
                </a:solidFill>
                <a:latin typeface="Arial" pitchFamily="34" charset="0"/>
                <a:ea typeface="Arial" pitchFamily="34" charset="-122"/>
                <a:cs typeface="Arial" pitchFamily="34" charset="-120"/>
              </a:rPr>
              <a:t>4. Open a PR</a:t>
            </a:r>
            <a:endParaRPr lang="en-US" sz="1500" dirty="0"/>
          </a:p>
        </p:txBody>
      </p:sp>
      <p:sp>
        <p:nvSpPr>
          <p:cNvPr id="18" name="Text 12"/>
          <p:cNvSpPr txBox="1"/>
          <p:nvPr/>
        </p:nvSpPr>
        <p:spPr>
          <a:xfrm>
            <a:off x="6949440" y="1984248"/>
            <a:ext cx="1600200" cy="457200"/>
          </a:xfrm>
          <a:prstGeom prst="rect">
            <a:avLst/>
          </a:prstGeom>
          <a:noFill/>
          <a:ln/>
        </p:spPr>
        <p:txBody>
          <a:bodyPr wrap="square" lIns="0" tIns="0" rIns="0" bIns="0" rtlCol="0" anchor="ctr"/>
          <a:lstStyle/>
          <a:p>
            <a:pPr indent="0" marL="0">
              <a:buNone/>
            </a:pPr>
            <a:r>
              <a:rPr lang="en-US" sz="1150" dirty="0">
                <a:solidFill>
                  <a:schemeClr val="accent6"/>
                </a:solidFill>
              </a:rPr>
              <a:t>with the new policy.py and its report</a:t>
            </a:r>
            <a:endParaRPr lang="en-US" sz="1150" dirty="0"/>
          </a:p>
        </p:txBody>
      </p:sp>
      <p:sp>
        <p:nvSpPr>
          <p:cNvPr id="19" name="FiUsers icon"/>
          <p:cNvSpPr/>
          <p:nvPr/>
        </p:nvSpPr>
        <p:spPr>
          <a:xfrm>
            <a:off x="457200" y="2743200"/>
            <a:ext cx="457200" cy="457200"/>
          </a:xfrm>
          <a:prstGeom prst="ellipse">
            <a:avLst/>
          </a:prstGeom>
          <a:solidFill>
            <a:srgbClr val="E6F4EA"/>
          </a:solidFill>
          <a:ln w="12700">
            <a:solidFill>
              <a:srgbClr val="E6F4EA"/>
            </a:solidFill>
            <a:prstDash val="solid"/>
          </a:ln>
        </p:spPr>
        <p:txBody>
          <a:bodyPr/>
          <a:p/>
        </p:txBody>
      </p:sp>
      <p:pic>
        <p:nvPicPr>
          <p:cNvPr id="20" name="FiUsers" descr="preencoded.png">    </p:cNvPr>
          <p:cNvPicPr>
            <a:picLocks noChangeAspect="1"/>
          </p:cNvPicPr>
          <p:nvPr/>
        </p:nvPicPr>
        <p:blipFill>
          <a:blip r:embed="rId5"/>
          <a:stretch>
            <a:fillRect/>
          </a:stretch>
        </p:blipFill>
        <p:spPr>
          <a:xfrm>
            <a:off x="571500" y="2857500"/>
            <a:ext cx="228600" cy="228600"/>
          </a:xfrm>
          <a:prstGeom prst="rect">
            <a:avLst/>
          </a:prstGeom>
        </p:spPr>
      </p:pic>
      <p:sp>
        <p:nvSpPr>
          <p:cNvPr id="21" name="Text 14"/>
          <p:cNvSpPr txBox="1"/>
          <p:nvPr/>
        </p:nvSpPr>
        <p:spPr>
          <a:xfrm>
            <a:off x="1051560" y="2743200"/>
            <a:ext cx="3474720" cy="27432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The operator stays in the loop</a:t>
            </a:r>
            <a:endParaRPr lang="en-US" sz="1500" dirty="0"/>
          </a:p>
        </p:txBody>
      </p:sp>
      <p:sp>
        <p:nvSpPr>
          <p:cNvPr id="22" name="Text 15"/>
          <p:cNvSpPr txBox="1"/>
          <p:nvPr/>
        </p:nvSpPr>
        <p:spPr>
          <a:xfrm>
            <a:off x="1051560" y="3035808"/>
            <a:ext cx="3474720" cy="1188720"/>
          </a:xfrm>
          <a:prstGeom prst="rect">
            <a:avLst/>
          </a:prstGeom>
          <a:noFill/>
          <a:ln/>
        </p:spPr>
        <p:txBody>
          <a:bodyPr wrap="square" lIns="0" tIns="0" rIns="0" bIns="0" rtlCol="0" anchor="ctr"/>
          <a:lstStyle/>
          <a:p>
            <a:pPr indent="0" marL="0">
              <a:buNone/>
            </a:pPr>
            <a:r>
              <a:rPr lang="en-US" sz="1150" dirty="0">
                <a:solidFill>
                  <a:schemeClr val="tx2"/>
                </a:solidFill>
              </a:rPr>
              <a:t>A quant reviews a diff of about forty lines of plain Python with no dependencies, which is how dispatch rules are written anyway. The challenger shadow-runs beside live dispatch before the switch. Owners already run several optimisers and audit them; this fits that habit.</a:t>
            </a:r>
            <a:endParaRPr lang="en-US" sz="1150" dirty="0"/>
          </a:p>
        </p:txBody>
      </p:sp>
      <p:sp>
        <p:nvSpPr>
          <p:cNvPr id="23" name="swap card"/>
          <p:cNvSpPr/>
          <p:nvPr/>
        </p:nvSpPr>
        <p:spPr>
          <a:xfrm>
            <a:off x="4937760" y="2743200"/>
            <a:ext cx="3749040" cy="1874520"/>
          </a:xfrm>
          <a:prstGeom prst="rect">
            <a:avLst/>
          </a:prstGeom>
          <a:solidFill>
            <a:srgbClr val="F4F4F4"/>
          </a:solidFill>
          <a:ln w="12700">
            <a:solidFill>
              <a:srgbClr val="F4F4F4"/>
            </a:solidFill>
            <a:prstDash val="solid"/>
          </a:ln>
        </p:spPr>
        <p:txBody>
          <a:bodyPr/>
          <a:p/>
        </p:txBody>
      </p:sp>
      <p:sp>
        <p:nvSpPr>
          <p:cNvPr id="24" name="Text 17"/>
          <p:cNvSpPr txBox="1"/>
          <p:nvPr/>
        </p:nvSpPr>
        <p:spPr>
          <a:xfrm>
            <a:off x="5120640" y="2834640"/>
            <a:ext cx="3383280" cy="27432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Swap one file to move it</a:t>
            </a:r>
            <a:endParaRPr lang="en-US" sz="1500" dirty="0"/>
          </a:p>
        </p:txBody>
      </p:sp>
      <p:sp>
        <p:nvSpPr>
          <p:cNvPr id="25" name="swap Different asset"/>
          <p:cNvSpPr txBox="1"/>
          <p:nvPr/>
        </p:nvSpPr>
        <p:spPr>
          <a:xfrm>
            <a:off x="5120640" y="3154680"/>
            <a:ext cx="3383280" cy="347472"/>
          </a:xfrm>
          <a:prstGeom prst="rect">
            <a:avLst/>
          </a:prstGeom>
          <a:noFill/>
          <a:ln/>
        </p:spPr>
        <p:txBody>
          <a:bodyPr wrap="square" lIns="0" tIns="0" rIns="0" bIns="0" rtlCol="0" anchor="t"/>
          <a:lstStyle/>
          <a:p>
            <a:pPr indent="0" marL="0">
              <a:buNone/>
            </a:pPr>
            <a:r>
              <a:rPr lang="en-US" sz="1100" b="1" dirty="0">
                <a:solidFill>
                  <a:schemeClr val="tx1"/>
                </a:solidFill>
              </a:rPr>
              <a:t>Different asset:  </a:t>
            </a:r>
            <a:pPr indent="0" marL="0">
              <a:buNone/>
            </a:pPr>
            <a:r>
              <a:rPr lang="en-US" sz="1100" dirty="0">
                <a:solidFill>
                  <a:schemeClr val="tx2"/>
                </a:solidFill>
              </a:rPr>
              <a:t>battery.py spec</a:t>
            </a:r>
            <a:endParaRPr lang="en-US" sz="1100" dirty="0"/>
          </a:p>
        </p:txBody>
      </p:sp>
      <p:sp>
        <p:nvSpPr>
          <p:cNvPr id="26" name="swap Different market (ERCOT, NEM, Germany)"/>
          <p:cNvSpPr txBox="1"/>
          <p:nvPr/>
        </p:nvSpPr>
        <p:spPr>
          <a:xfrm>
            <a:off x="5120640" y="3502152"/>
            <a:ext cx="3383280" cy="347472"/>
          </a:xfrm>
          <a:prstGeom prst="rect">
            <a:avLst/>
          </a:prstGeom>
          <a:noFill/>
          <a:ln/>
        </p:spPr>
        <p:txBody>
          <a:bodyPr wrap="square" lIns="0" tIns="0" rIns="0" bIns="0" rtlCol="0" anchor="t"/>
          <a:lstStyle/>
          <a:p>
            <a:pPr indent="0" marL="0">
              <a:buNone/>
            </a:pPr>
            <a:r>
              <a:rPr lang="en-US" sz="1100" b="1" dirty="0">
                <a:solidFill>
                  <a:schemeClr val="tx1"/>
                </a:solidFill>
              </a:rPr>
              <a:t>Different market (ERCOT, NEM, Germany):  </a:t>
            </a:r>
            <a:pPr indent="0" marL="0">
              <a:buNone/>
            </a:pPr>
            <a:r>
              <a:rPr lang="en-US" sz="1100" dirty="0">
                <a:solidFill>
                  <a:schemeClr val="tx2"/>
                </a:solidFill>
              </a:rPr>
              <a:t>fetch_prices.py</a:t>
            </a:r>
            <a:endParaRPr lang="en-US" sz="1100" dirty="0"/>
          </a:p>
        </p:txBody>
      </p:sp>
      <p:sp>
        <p:nvSpPr>
          <p:cNvPr id="27" name="swap Different search framework"/>
          <p:cNvSpPr txBox="1"/>
          <p:nvPr/>
        </p:nvSpPr>
        <p:spPr>
          <a:xfrm>
            <a:off x="5120640" y="3849624"/>
            <a:ext cx="3383280" cy="347472"/>
          </a:xfrm>
          <a:prstGeom prst="rect">
            <a:avLst/>
          </a:prstGeom>
          <a:noFill/>
          <a:ln/>
        </p:spPr>
        <p:txBody>
          <a:bodyPr wrap="square" lIns="0" tIns="0" rIns="0" bIns="0" rtlCol="0" anchor="t"/>
          <a:lstStyle/>
          <a:p>
            <a:pPr indent="0" marL="0">
              <a:buNone/>
            </a:pPr>
            <a:r>
              <a:rPr lang="en-US" sz="1100" b="1" dirty="0">
                <a:solidFill>
                  <a:schemeClr val="tx1"/>
                </a:solidFill>
              </a:rPr>
              <a:t>Different search framework:  </a:t>
            </a:r>
            <a:pPr indent="0" marL="0">
              <a:buNone/>
            </a:pPr>
            <a:r>
              <a:rPr lang="en-US" sz="1100" dirty="0">
                <a:solidFill>
                  <a:schemeClr val="tx2"/>
                </a:solidFill>
              </a:rPr>
              <a:t>one driver calling evaluate.py</a:t>
            </a:r>
            <a:endParaRPr lang="en-US" sz="1100" dirty="0"/>
          </a:p>
        </p:txBody>
      </p:sp>
      <p:sp>
        <p:nvSpPr>
          <p:cNvPr id="28" name="swap Cost"/>
          <p:cNvSpPr txBox="1"/>
          <p:nvPr/>
        </p:nvSpPr>
        <p:spPr>
          <a:xfrm>
            <a:off x="5120640" y="4197096"/>
            <a:ext cx="3383280" cy="347472"/>
          </a:xfrm>
          <a:prstGeom prst="rect">
            <a:avLst/>
          </a:prstGeom>
          <a:noFill/>
          <a:ln/>
        </p:spPr>
        <p:txBody>
          <a:bodyPr wrap="square" lIns="0" tIns="0" rIns="0" bIns="0" rtlCol="0" anchor="t"/>
          <a:lstStyle/>
          <a:p>
            <a:pPr indent="0" marL="0">
              <a:buNone/>
            </a:pPr>
            <a:r>
              <a:rPr lang="en-US" sz="1100" b="1" dirty="0">
                <a:solidFill>
                  <a:schemeClr val="tx1"/>
                </a:solidFill>
              </a:rPr>
              <a:t>Cost:  </a:t>
            </a:r>
            <a:pPr indent="0" marL="0">
              <a:buNone/>
            </a:pPr>
            <a:r>
              <a:rPr lang="en-US" sz="1100" dirty="0">
                <a:solidFill>
                  <a:schemeClr val="tx2"/>
                </a:solidFill>
              </a:rPr>
              <a:t>under a second per evaluation; the LLM is the only expense, bounded by iteration count</a:t>
            </a:r>
            <a:endParaRPr lang="en-US" sz="11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Where it can still mislead</a:t>
            </a:r>
            <a:endParaRPr lang="en-US" sz="2800" dirty="0"/>
          </a:p>
        </p:txBody>
      </p:sp>
      <p:sp>
        <p:nvSpPr>
          <p:cNvPr id="3" name="failure Regime shift"/>
          <p:cNvSpPr/>
          <p:nvPr/>
        </p:nvSpPr>
        <p:spPr>
          <a:xfrm>
            <a:off x="457200" y="1097280"/>
            <a:ext cx="2651760" cy="1645920"/>
          </a:xfrm>
          <a:prstGeom prst="rect">
            <a:avLst/>
          </a:prstGeom>
          <a:solidFill>
            <a:srgbClr val="F4F4F4"/>
          </a:solidFill>
          <a:ln w="12700">
            <a:solidFill>
              <a:srgbClr val="F4F4F4"/>
            </a:solidFill>
            <a:prstDash val="solid"/>
          </a:ln>
        </p:spPr>
        <p:txBody>
          <a:bodyPr/>
          <a:p/>
        </p:txBody>
      </p:sp>
      <p:sp>
        <p:nvSpPr>
          <p:cNvPr id="4" name="FiCalendar icon"/>
          <p:cNvSpPr/>
          <p:nvPr/>
        </p:nvSpPr>
        <p:spPr>
          <a:xfrm>
            <a:off x="594360" y="1234440"/>
            <a:ext cx="384048" cy="384048"/>
          </a:xfrm>
          <a:prstGeom prst="ellipse">
            <a:avLst/>
          </a:prstGeom>
          <a:solidFill>
            <a:srgbClr val="FBE9E7"/>
          </a:solidFill>
          <a:ln w="12700">
            <a:solidFill>
              <a:srgbClr val="FBE9E7"/>
            </a:solidFill>
            <a:prstDash val="solid"/>
          </a:ln>
        </p:spPr>
        <p:txBody>
          <a:bodyPr/>
          <a:p/>
        </p:txBody>
      </p:sp>
      <p:pic>
        <p:nvPicPr>
          <p:cNvPr id="5" name="FiCalendar" descr="preencoded.png">    </p:cNvPr>
          <p:cNvPicPr>
            <a:picLocks noChangeAspect="1"/>
          </p:cNvPicPr>
          <p:nvPr/>
        </p:nvPicPr>
        <p:blipFill>
          <a:blip r:embed="rId1"/>
          <a:stretch>
            <a:fillRect/>
          </a:stretch>
        </p:blipFill>
        <p:spPr>
          <a:xfrm>
            <a:off x="690372" y="1330452"/>
            <a:ext cx="192024" cy="192024"/>
          </a:xfrm>
          <a:prstGeom prst="rect">
            <a:avLst/>
          </a:prstGeom>
        </p:spPr>
      </p:pic>
      <p:sp>
        <p:nvSpPr>
          <p:cNvPr id="6" name="Text 3"/>
          <p:cNvSpPr txBox="1"/>
          <p:nvPr/>
        </p:nvSpPr>
        <p:spPr>
          <a:xfrm>
            <a:off x="1097280" y="1234440"/>
            <a:ext cx="1920240" cy="384048"/>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Regime shift</a:t>
            </a:r>
            <a:endParaRPr lang="en-US" sz="1300" dirty="0"/>
          </a:p>
        </p:txBody>
      </p:sp>
      <p:sp>
        <p:nvSpPr>
          <p:cNvPr id="7" name="Text 4"/>
          <p:cNvSpPr txBox="1"/>
          <p:nvPr/>
        </p:nvSpPr>
        <p:spPr>
          <a:xfrm>
            <a:off x="594360" y="1691640"/>
            <a:ext cx="2377440" cy="1005840"/>
          </a:xfrm>
          <a:prstGeom prst="rect">
            <a:avLst/>
          </a:prstGeom>
          <a:noFill/>
          <a:ln/>
        </p:spPr>
        <p:txBody>
          <a:bodyPr wrap="square" lIns="0" tIns="0" rIns="0" bIns="0" rtlCol="0" anchor="t"/>
          <a:lstStyle/>
          <a:p>
            <a:pPr indent="0" marL="0">
              <a:buNone/>
            </a:pPr>
            <a:r>
              <a:rPr lang="en-US" sz="1050" dirty="0">
                <a:solidFill>
                  <a:schemeClr val="tx2"/>
                </a:solidFill>
              </a:rPr>
              <a:t>Train is Oct to May; test is Aug to Oct. Gas, wind and interconnector conditions differ. A train gain that fails on test is reported, not hidden.</a:t>
            </a:r>
            <a:endParaRPr lang="en-US" sz="1050" dirty="0"/>
          </a:p>
        </p:txBody>
      </p:sp>
      <p:sp>
        <p:nvSpPr>
          <p:cNvPr id="8" name="failure Single market, no forecast"/>
          <p:cNvSpPr/>
          <p:nvPr/>
        </p:nvSpPr>
        <p:spPr>
          <a:xfrm>
            <a:off x="3246120" y="1097280"/>
            <a:ext cx="2651760" cy="1645920"/>
          </a:xfrm>
          <a:prstGeom prst="rect">
            <a:avLst/>
          </a:prstGeom>
          <a:solidFill>
            <a:srgbClr val="F4F4F4"/>
          </a:solidFill>
          <a:ln w="12700">
            <a:solidFill>
              <a:srgbClr val="F4F4F4"/>
            </a:solidFill>
            <a:prstDash val="solid"/>
          </a:ln>
        </p:spPr>
        <p:txBody>
          <a:bodyPr/>
          <a:p/>
        </p:txBody>
      </p:sp>
      <p:sp>
        <p:nvSpPr>
          <p:cNvPr id="9" name="FiGlobe icon"/>
          <p:cNvSpPr/>
          <p:nvPr/>
        </p:nvSpPr>
        <p:spPr>
          <a:xfrm>
            <a:off x="3383280" y="1234440"/>
            <a:ext cx="384048" cy="384048"/>
          </a:xfrm>
          <a:prstGeom prst="ellipse">
            <a:avLst/>
          </a:prstGeom>
          <a:solidFill>
            <a:srgbClr val="FBE9E7"/>
          </a:solidFill>
          <a:ln w="12700">
            <a:solidFill>
              <a:srgbClr val="FBE9E7"/>
            </a:solidFill>
            <a:prstDash val="solid"/>
          </a:ln>
        </p:spPr>
        <p:txBody>
          <a:bodyPr/>
          <a:p/>
        </p:txBody>
      </p:sp>
      <p:pic>
        <p:nvPicPr>
          <p:cNvPr id="10" name="FiGlobe" descr="preencoded.png">    </p:cNvPr>
          <p:cNvPicPr>
            <a:picLocks noChangeAspect="1"/>
          </p:cNvPicPr>
          <p:nvPr/>
        </p:nvPicPr>
        <p:blipFill>
          <a:blip r:embed="rId2"/>
          <a:stretch>
            <a:fillRect/>
          </a:stretch>
        </p:blipFill>
        <p:spPr>
          <a:xfrm>
            <a:off x="3479292" y="1330452"/>
            <a:ext cx="192024" cy="192024"/>
          </a:xfrm>
          <a:prstGeom prst="rect">
            <a:avLst/>
          </a:prstGeom>
        </p:spPr>
      </p:pic>
      <p:sp>
        <p:nvSpPr>
          <p:cNvPr id="11" name="Text 7"/>
          <p:cNvSpPr txBox="1"/>
          <p:nvPr/>
        </p:nvSpPr>
        <p:spPr>
          <a:xfrm>
            <a:off x="3886200" y="1234440"/>
            <a:ext cx="1920240" cy="384048"/>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Single market, no forecast</a:t>
            </a:r>
            <a:endParaRPr lang="en-US" sz="1300" dirty="0"/>
          </a:p>
        </p:txBody>
      </p:sp>
      <p:sp>
        <p:nvSpPr>
          <p:cNvPr id="12" name="Text 8"/>
          <p:cNvSpPr txBox="1"/>
          <p:nvPr/>
        </p:nvSpPr>
        <p:spPr>
          <a:xfrm>
            <a:off x="3383280" y="1691640"/>
            <a:ext cx="2377440" cy="1005840"/>
          </a:xfrm>
          <a:prstGeom prst="rect">
            <a:avLst/>
          </a:prstGeom>
          <a:noFill/>
          <a:ln/>
        </p:spPr>
        <p:txBody>
          <a:bodyPr wrap="square" lIns="0" tIns="0" rIns="0" bIns="0" rtlCol="0" anchor="t"/>
          <a:lstStyle/>
          <a:p>
            <a:pPr indent="0" marL="0">
              <a:buNone/>
            </a:pPr>
            <a:r>
              <a:rPr lang="en-US" sz="1050" dirty="0">
                <a:solidFill>
                  <a:schemeClr val="tx2"/>
                </a:solidFill>
              </a:rPr>
              <a:t>Trades the realised market index only. Real desks stack day-ahead, frequency response and the Balancing Mechanism and use forecasts. Absolute £ is a floor.</a:t>
            </a:r>
            <a:endParaRPr lang="en-US" sz="1050" dirty="0"/>
          </a:p>
        </p:txBody>
      </p:sp>
      <p:sp>
        <p:nvSpPr>
          <p:cNvPr id="13" name="failure Zero market impact"/>
          <p:cNvSpPr/>
          <p:nvPr/>
        </p:nvSpPr>
        <p:spPr>
          <a:xfrm>
            <a:off x="6035040" y="1097280"/>
            <a:ext cx="2651760" cy="1645920"/>
          </a:xfrm>
          <a:prstGeom prst="rect">
            <a:avLst/>
          </a:prstGeom>
          <a:solidFill>
            <a:srgbClr val="F4F4F4"/>
          </a:solidFill>
          <a:ln w="12700">
            <a:solidFill>
              <a:srgbClr val="F4F4F4"/>
            </a:solidFill>
            <a:prstDash val="solid"/>
          </a:ln>
        </p:spPr>
        <p:txBody>
          <a:bodyPr/>
          <a:p/>
        </p:txBody>
      </p:sp>
      <p:sp>
        <p:nvSpPr>
          <p:cNvPr id="14" name="FiActivity icon"/>
          <p:cNvSpPr/>
          <p:nvPr/>
        </p:nvSpPr>
        <p:spPr>
          <a:xfrm>
            <a:off x="6172200" y="1234440"/>
            <a:ext cx="384048" cy="384048"/>
          </a:xfrm>
          <a:prstGeom prst="ellipse">
            <a:avLst/>
          </a:prstGeom>
          <a:solidFill>
            <a:srgbClr val="FBE9E7"/>
          </a:solidFill>
          <a:ln w="12700">
            <a:solidFill>
              <a:srgbClr val="FBE9E7"/>
            </a:solidFill>
            <a:prstDash val="solid"/>
          </a:ln>
        </p:spPr>
        <p:txBody>
          <a:bodyPr/>
          <a:p/>
        </p:txBody>
      </p:sp>
      <p:pic>
        <p:nvPicPr>
          <p:cNvPr id="15" name="FiActivity" descr="preencoded.png">    </p:cNvPr>
          <p:cNvPicPr>
            <a:picLocks noChangeAspect="1"/>
          </p:cNvPicPr>
          <p:nvPr/>
        </p:nvPicPr>
        <p:blipFill>
          <a:blip r:embed="rId3"/>
          <a:stretch>
            <a:fillRect/>
          </a:stretch>
        </p:blipFill>
        <p:spPr>
          <a:xfrm>
            <a:off x="6268212" y="1330452"/>
            <a:ext cx="192024" cy="192024"/>
          </a:xfrm>
          <a:prstGeom prst="rect">
            <a:avLst/>
          </a:prstGeom>
        </p:spPr>
      </p:pic>
      <p:sp>
        <p:nvSpPr>
          <p:cNvPr id="16" name="Text 11"/>
          <p:cNvSpPr txBox="1"/>
          <p:nvPr/>
        </p:nvSpPr>
        <p:spPr>
          <a:xfrm>
            <a:off x="6675120" y="1234440"/>
            <a:ext cx="1920240" cy="384048"/>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Zero market impact</a:t>
            </a:r>
            <a:endParaRPr lang="en-US" sz="1300" dirty="0"/>
          </a:p>
        </p:txBody>
      </p:sp>
      <p:sp>
        <p:nvSpPr>
          <p:cNvPr id="17" name="Text 12"/>
          <p:cNvSpPr txBox="1"/>
          <p:nvPr/>
        </p:nvSpPr>
        <p:spPr>
          <a:xfrm>
            <a:off x="6172200" y="1691640"/>
            <a:ext cx="2377440" cy="1005840"/>
          </a:xfrm>
          <a:prstGeom prst="rect">
            <a:avLst/>
          </a:prstGeom>
          <a:noFill/>
          <a:ln/>
        </p:spPr>
        <p:txBody>
          <a:bodyPr wrap="square" lIns="0" tIns="0" rIns="0" bIns="0" rtlCol="0" anchor="t"/>
          <a:lstStyle/>
          <a:p>
            <a:pPr indent="0" marL="0">
              <a:buNone/>
            </a:pPr>
            <a:r>
              <a:rPr lang="en-US" sz="1050" dirty="0">
                <a:solidFill>
                  <a:schemeClr val="tx2"/>
                </a:solidFill>
              </a:rPr>
              <a:t>Assumed at 1 MW. Perfect foresight also assumes the spikes it exploits would survive everyone chasing them.</a:t>
            </a:r>
            <a:endParaRPr lang="en-US" sz="1050" dirty="0"/>
          </a:p>
        </p:txBody>
      </p:sp>
      <p:sp>
        <p:nvSpPr>
          <p:cNvPr id="18" name="failure One year of data"/>
          <p:cNvSpPr/>
          <p:nvPr/>
        </p:nvSpPr>
        <p:spPr>
          <a:xfrm>
            <a:off x="457200" y="2880360"/>
            <a:ext cx="2651760" cy="1645920"/>
          </a:xfrm>
          <a:prstGeom prst="rect">
            <a:avLst/>
          </a:prstGeom>
          <a:solidFill>
            <a:srgbClr val="F4F4F4"/>
          </a:solidFill>
          <a:ln w="12700">
            <a:solidFill>
              <a:srgbClr val="F4F4F4"/>
            </a:solidFill>
            <a:prstDash val="solid"/>
          </a:ln>
        </p:spPr>
        <p:txBody>
          <a:bodyPr/>
          <a:p/>
        </p:txBody>
      </p:sp>
      <p:sp>
        <p:nvSpPr>
          <p:cNvPr id="19" name="FiClock icon"/>
          <p:cNvSpPr/>
          <p:nvPr/>
        </p:nvSpPr>
        <p:spPr>
          <a:xfrm>
            <a:off x="594360" y="3017520"/>
            <a:ext cx="384048" cy="384048"/>
          </a:xfrm>
          <a:prstGeom prst="ellipse">
            <a:avLst/>
          </a:prstGeom>
          <a:solidFill>
            <a:srgbClr val="FBE9E7"/>
          </a:solidFill>
          <a:ln w="12700">
            <a:solidFill>
              <a:srgbClr val="FBE9E7"/>
            </a:solidFill>
            <a:prstDash val="solid"/>
          </a:ln>
        </p:spPr>
        <p:txBody>
          <a:bodyPr/>
          <a:p/>
        </p:txBody>
      </p:sp>
      <p:pic>
        <p:nvPicPr>
          <p:cNvPr id="20" name="FiClock" descr="preencoded.png">    </p:cNvPr>
          <p:cNvPicPr>
            <a:picLocks noChangeAspect="1"/>
          </p:cNvPicPr>
          <p:nvPr/>
        </p:nvPicPr>
        <p:blipFill>
          <a:blip r:embed="rId4"/>
          <a:stretch>
            <a:fillRect/>
          </a:stretch>
        </p:blipFill>
        <p:spPr>
          <a:xfrm>
            <a:off x="690372" y="3113532"/>
            <a:ext cx="192024" cy="192024"/>
          </a:xfrm>
          <a:prstGeom prst="rect">
            <a:avLst/>
          </a:prstGeom>
        </p:spPr>
      </p:pic>
      <p:sp>
        <p:nvSpPr>
          <p:cNvPr id="21" name="Text 15"/>
          <p:cNvSpPr txBox="1"/>
          <p:nvPr/>
        </p:nvSpPr>
        <p:spPr>
          <a:xfrm>
            <a:off x="1097280" y="3017520"/>
            <a:ext cx="1920240" cy="384048"/>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One year of data</a:t>
            </a:r>
            <a:endParaRPr lang="en-US" sz="1300" dirty="0"/>
          </a:p>
        </p:txBody>
      </p:sp>
      <p:sp>
        <p:nvSpPr>
          <p:cNvPr id="22" name="Text 16"/>
          <p:cNvSpPr txBox="1"/>
          <p:nvPr/>
        </p:nvSpPr>
        <p:spPr>
          <a:xfrm>
            <a:off x="594360" y="3474720"/>
            <a:ext cx="2377440" cy="1005840"/>
          </a:xfrm>
          <a:prstGeom prst="rect">
            <a:avLst/>
          </a:prstGeom>
          <a:noFill/>
          <a:ln/>
        </p:spPr>
        <p:txBody>
          <a:bodyPr wrap="square" lIns="0" tIns="0" rIns="0" bIns="0" rtlCol="0" anchor="t"/>
          <a:lstStyle/>
          <a:p>
            <a:pPr indent="0" marL="0">
              <a:buNone/>
            </a:pPr>
            <a:r>
              <a:rPr lang="en-US" sz="1050" dirty="0">
                <a:solidFill>
                  <a:schemeClr val="tx2"/>
                </a:solidFill>
              </a:rPr>
              <a:t>One price regime. Practitioners re-tune at least quarterly, which is why deployment re-runs the search on a schedule.</a:t>
            </a:r>
            <a:endParaRPr lang="en-US" sz="1050" dirty="0"/>
          </a:p>
        </p:txBody>
      </p:sp>
      <p:sp>
        <p:nvSpPr>
          <p:cNvPr id="23" name="failure Flat degradation"/>
          <p:cNvSpPr/>
          <p:nvPr/>
        </p:nvSpPr>
        <p:spPr>
          <a:xfrm>
            <a:off x="3246120" y="2880360"/>
            <a:ext cx="2651760" cy="1645920"/>
          </a:xfrm>
          <a:prstGeom prst="rect">
            <a:avLst/>
          </a:prstGeom>
          <a:solidFill>
            <a:srgbClr val="F4F4F4"/>
          </a:solidFill>
          <a:ln w="12700">
            <a:solidFill>
              <a:srgbClr val="F4F4F4"/>
            </a:solidFill>
            <a:prstDash val="solid"/>
          </a:ln>
        </p:spPr>
        <p:txBody>
          <a:bodyPr/>
          <a:p/>
        </p:txBody>
      </p:sp>
      <p:sp>
        <p:nvSpPr>
          <p:cNvPr id="24" name="FiCloud icon"/>
          <p:cNvSpPr/>
          <p:nvPr/>
        </p:nvSpPr>
        <p:spPr>
          <a:xfrm>
            <a:off x="3383280" y="3017520"/>
            <a:ext cx="384048" cy="384048"/>
          </a:xfrm>
          <a:prstGeom prst="ellipse">
            <a:avLst/>
          </a:prstGeom>
          <a:solidFill>
            <a:srgbClr val="FBE9E7"/>
          </a:solidFill>
          <a:ln w="12700">
            <a:solidFill>
              <a:srgbClr val="FBE9E7"/>
            </a:solidFill>
            <a:prstDash val="solid"/>
          </a:ln>
        </p:spPr>
        <p:txBody>
          <a:bodyPr/>
          <a:p/>
        </p:txBody>
      </p:sp>
      <p:pic>
        <p:nvPicPr>
          <p:cNvPr id="25" name="FiCloud" descr="preencoded.png">    </p:cNvPr>
          <p:cNvPicPr>
            <a:picLocks noChangeAspect="1"/>
          </p:cNvPicPr>
          <p:nvPr/>
        </p:nvPicPr>
        <p:blipFill>
          <a:blip r:embed="rId5"/>
          <a:stretch>
            <a:fillRect/>
          </a:stretch>
        </p:blipFill>
        <p:spPr>
          <a:xfrm>
            <a:off x="3479292" y="3113532"/>
            <a:ext cx="192024" cy="192024"/>
          </a:xfrm>
          <a:prstGeom prst="rect">
            <a:avLst/>
          </a:prstGeom>
        </p:spPr>
      </p:pic>
      <p:sp>
        <p:nvSpPr>
          <p:cNvPr id="26" name="Text 19"/>
          <p:cNvSpPr txBox="1"/>
          <p:nvPr/>
        </p:nvSpPr>
        <p:spPr>
          <a:xfrm>
            <a:off x="3886200" y="3017520"/>
            <a:ext cx="1920240" cy="384048"/>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Flat degradation</a:t>
            </a:r>
            <a:endParaRPr lang="en-US" sz="1300" dirty="0"/>
          </a:p>
        </p:txBody>
      </p:sp>
      <p:sp>
        <p:nvSpPr>
          <p:cNvPr id="27" name="Text 20"/>
          <p:cNvSpPr txBox="1"/>
          <p:nvPr/>
        </p:nvSpPr>
        <p:spPr>
          <a:xfrm>
            <a:off x="3383280" y="3474720"/>
            <a:ext cx="2377440" cy="1005840"/>
          </a:xfrm>
          <a:prstGeom prst="rect">
            <a:avLst/>
          </a:prstGeom>
          <a:noFill/>
          <a:ln/>
        </p:spPr>
        <p:txBody>
          <a:bodyPr wrap="square" lIns="0" tIns="0" rIns="0" bIns="0" rtlCol="0" anchor="t"/>
          <a:lstStyle/>
          <a:p>
            <a:pPr indent="0" marL="0">
              <a:buNone/>
            </a:pPr>
            <a:r>
              <a:rPr lang="en-US" sz="1050" dirty="0">
                <a:solidFill>
                  <a:schemeClr val="tx2"/>
                </a:solidFill>
              </a:rPr>
              <a:t>£10/MWh of throughput. Ageing costs change the answer a lot (DFKI); a richer model slots into battery.py without touching the loop.</a:t>
            </a:r>
            <a:endParaRPr lang="en-US" sz="1050" dirty="0"/>
          </a:p>
        </p:txBody>
      </p:sp>
      <p:sp>
        <p:nvSpPr>
          <p:cNvPr id="28" name="failure Search overfits backtests"/>
          <p:cNvSpPr/>
          <p:nvPr/>
        </p:nvSpPr>
        <p:spPr>
          <a:xfrm>
            <a:off x="6035040" y="2880360"/>
            <a:ext cx="2651760" cy="1645920"/>
          </a:xfrm>
          <a:prstGeom prst="rect">
            <a:avLst/>
          </a:prstGeom>
          <a:solidFill>
            <a:srgbClr val="F4F4F4"/>
          </a:solidFill>
          <a:ln w="12700">
            <a:solidFill>
              <a:srgbClr val="F4F4F4"/>
            </a:solidFill>
            <a:prstDash val="solid"/>
          </a:ln>
        </p:spPr>
        <p:txBody>
          <a:bodyPr/>
          <a:p/>
        </p:txBody>
      </p:sp>
      <p:sp>
        <p:nvSpPr>
          <p:cNvPr id="29" name="FiAlertTriangle icon"/>
          <p:cNvSpPr/>
          <p:nvPr/>
        </p:nvSpPr>
        <p:spPr>
          <a:xfrm>
            <a:off x="6172200" y="3017520"/>
            <a:ext cx="384048" cy="384048"/>
          </a:xfrm>
          <a:prstGeom prst="ellipse">
            <a:avLst/>
          </a:prstGeom>
          <a:solidFill>
            <a:srgbClr val="FBE9E7"/>
          </a:solidFill>
          <a:ln w="12700">
            <a:solidFill>
              <a:srgbClr val="FBE9E7"/>
            </a:solidFill>
            <a:prstDash val="solid"/>
          </a:ln>
        </p:spPr>
        <p:txBody>
          <a:bodyPr/>
          <a:p/>
        </p:txBody>
      </p:sp>
      <p:pic>
        <p:nvPicPr>
          <p:cNvPr id="30" name="FiAlertTriangle" descr="preencoded.png">    </p:cNvPr>
          <p:cNvPicPr>
            <a:picLocks noChangeAspect="1"/>
          </p:cNvPicPr>
          <p:nvPr/>
        </p:nvPicPr>
        <p:blipFill>
          <a:blip r:embed="rId6"/>
          <a:stretch>
            <a:fillRect/>
          </a:stretch>
        </p:blipFill>
        <p:spPr>
          <a:xfrm>
            <a:off x="6268212" y="3113532"/>
            <a:ext cx="192024" cy="192024"/>
          </a:xfrm>
          <a:prstGeom prst="rect">
            <a:avLst/>
          </a:prstGeom>
        </p:spPr>
      </p:pic>
      <p:sp>
        <p:nvSpPr>
          <p:cNvPr id="31" name="Text 23"/>
          <p:cNvSpPr txBox="1"/>
          <p:nvPr/>
        </p:nvSpPr>
        <p:spPr>
          <a:xfrm>
            <a:off x="6675120" y="3017520"/>
            <a:ext cx="1920240" cy="384048"/>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Search overfits backtests</a:t>
            </a:r>
            <a:endParaRPr lang="en-US" sz="1300" dirty="0"/>
          </a:p>
        </p:txBody>
      </p:sp>
      <p:sp>
        <p:nvSpPr>
          <p:cNvPr id="32" name="Text 24"/>
          <p:cNvSpPr txBox="1"/>
          <p:nvPr/>
        </p:nvSpPr>
        <p:spPr>
          <a:xfrm>
            <a:off x="6172200" y="3474720"/>
            <a:ext cx="2377440" cy="1005840"/>
          </a:xfrm>
          <a:prstGeom prst="rect">
            <a:avLst/>
          </a:prstGeom>
          <a:noFill/>
          <a:ln/>
        </p:spPr>
        <p:txBody>
          <a:bodyPr wrap="square" lIns="0" tIns="0" rIns="0" bIns="0" rtlCol="0" anchor="t"/>
          <a:lstStyle/>
          <a:p>
            <a:pPr indent="0" marL="0">
              <a:buNone/>
            </a:pPr>
            <a:r>
              <a:rPr lang="en-US" sz="1050" dirty="0">
                <a:solidFill>
                  <a:schemeClr val="tx2"/>
                </a:solidFill>
              </a:rPr>
              <a:t>The documented failure of LLM-evolved trading strategies (MadEvolve). Our answer: the val gate and a once-only test read. If the val gain does not hold on test, we say so.</a:t>
            </a:r>
            <a:endParaRPr lang="en-US" sz="105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E6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8046720" cy="548640"/>
          </a:xfrm>
          <a:prstGeom prst="rect">
            <a:avLst/>
          </a:prstGeom>
          <a:noFill/>
          <a:ln/>
        </p:spPr>
        <p:txBody>
          <a:bodyPr wrap="square" lIns="0" tIns="0" rIns="0" bIns="0" rtlCol="0" anchor="ctr"/>
          <a:lstStyle/>
          <a:p>
            <a:pPr indent="0" marL="0">
              <a:buNone/>
            </a:pPr>
            <a:r>
              <a:rPr lang="en-US" sz="2800" b="1" dirty="0">
                <a:solidFill>
                  <a:schemeClr val="bg1"/>
                </a:solidFill>
                <a:latin typeface="Arial" pitchFamily="34" charset="0"/>
                <a:ea typeface="Arial" pitchFamily="34" charset="-122"/>
                <a:cs typeface="Arial" pitchFamily="34" charset="-120"/>
              </a:rPr>
              <a:t>What we'd do next</a:t>
            </a:r>
            <a:endParaRPr lang="en-US" sz="2800" dirty="0"/>
          </a:p>
        </p:txBody>
      </p:sp>
      <p:sp>
        <p:nvSpPr>
          <p:cNvPr id="3" name="next OpenEvolve driver"/>
          <p:cNvSpPr/>
          <p:nvPr/>
        </p:nvSpPr>
        <p:spPr>
          <a:xfrm>
            <a:off x="548640" y="1188720"/>
            <a:ext cx="2560320" cy="2331720"/>
          </a:xfrm>
          <a:prstGeom prst="roundRect">
            <a:avLst>
              <a:gd name="adj" fmla="val 2353"/>
            </a:avLst>
          </a:prstGeom>
          <a:solidFill>
            <a:srgbClr val="232830"/>
          </a:solidFill>
          <a:ln w="12700">
            <a:solidFill>
              <a:srgbClr val="232830"/>
            </a:solidFill>
            <a:prstDash val="solid"/>
          </a:ln>
        </p:spPr>
        <p:txBody>
          <a:bodyPr/>
          <a:p/>
        </p:txBody>
      </p:sp>
      <p:pic>
        <p:nvPicPr>
          <p:cNvPr id="4" name="FiRefreshCw" descr="preencoded.png">    </p:cNvPr>
          <p:cNvPicPr>
            <a:picLocks noChangeAspect="1"/>
          </p:cNvPicPr>
          <p:nvPr/>
        </p:nvPicPr>
        <p:blipFill>
          <a:blip r:embed="rId1"/>
          <a:stretch>
            <a:fillRect/>
          </a:stretch>
        </p:blipFill>
        <p:spPr>
          <a:xfrm>
            <a:off x="731520" y="1371600"/>
            <a:ext cx="365760" cy="365760"/>
          </a:xfrm>
          <a:prstGeom prst="rect">
            <a:avLst/>
          </a:prstGeom>
        </p:spPr>
      </p:pic>
      <p:sp>
        <p:nvSpPr>
          <p:cNvPr id="5" name="Text 2"/>
          <p:cNvSpPr txBox="1"/>
          <p:nvPr/>
        </p:nvSpPr>
        <p:spPr>
          <a:xfrm>
            <a:off x="731520" y="1810512"/>
            <a:ext cx="2240280" cy="320040"/>
          </a:xfrm>
          <a:prstGeom prst="rect">
            <a:avLst/>
          </a:prstGeom>
          <a:noFill/>
          <a:ln/>
        </p:spPr>
        <p:txBody>
          <a:bodyPr wrap="square" lIns="0" tIns="0" rIns="0" bIns="0" rtlCol="0" anchor="ctr"/>
          <a:lstStyle/>
          <a:p>
            <a:pPr indent="0" marL="0">
              <a:buNone/>
            </a:pPr>
            <a:r>
              <a:rPr lang="en-US" sz="1500" b="1" dirty="0">
                <a:solidFill>
                  <a:schemeClr val="bg1"/>
                </a:solidFill>
                <a:latin typeface="Arial" pitchFamily="34" charset="0"/>
                <a:ea typeface="Arial" pitchFamily="34" charset="-122"/>
                <a:cs typeface="Arial" pitchFamily="34" charset="-120"/>
              </a:rPr>
              <a:t>OpenEvolve driver</a:t>
            </a:r>
            <a:endParaRPr lang="en-US" sz="1500" dirty="0"/>
          </a:p>
        </p:txBody>
      </p:sp>
      <p:sp>
        <p:nvSpPr>
          <p:cNvPr id="6" name="Text 3"/>
          <p:cNvSpPr txBox="1"/>
          <p:nvPr/>
        </p:nvSpPr>
        <p:spPr>
          <a:xfrm>
            <a:off x="731520" y="2148840"/>
            <a:ext cx="2240280" cy="1325880"/>
          </a:xfrm>
          <a:prstGeom prst="rect">
            <a:avLst/>
          </a:prstGeom>
          <a:noFill/>
          <a:ln/>
        </p:spPr>
        <p:txBody>
          <a:bodyPr wrap="square" lIns="0" tIns="0" rIns="0" bIns="0" rtlCol="0" anchor="ctr"/>
          <a:lstStyle/>
          <a:p>
            <a:pPr indent="0" marL="0">
              <a:buNone/>
            </a:pPr>
            <a:r>
              <a:rPr lang="en-US" sz="1150" dirty="0">
                <a:solidFill>
                  <a:schemeClr val="accent6"/>
                </a:solidFill>
              </a:rPr>
              <a:t>A population search behind the same evaluate.py contract, and a forced structurally different proposal every few iterations, so the loop leaves its plateau.</a:t>
            </a:r>
            <a:endParaRPr lang="en-US" sz="1150" dirty="0"/>
          </a:p>
        </p:txBody>
      </p:sp>
      <p:sp>
        <p:nvSpPr>
          <p:cNvPr id="7" name="next Paired acceptance test"/>
          <p:cNvSpPr/>
          <p:nvPr/>
        </p:nvSpPr>
        <p:spPr>
          <a:xfrm>
            <a:off x="3291840" y="1188720"/>
            <a:ext cx="2560320" cy="2331720"/>
          </a:xfrm>
          <a:prstGeom prst="roundRect">
            <a:avLst>
              <a:gd name="adj" fmla="val 2353"/>
            </a:avLst>
          </a:prstGeom>
          <a:solidFill>
            <a:srgbClr val="232830"/>
          </a:solidFill>
          <a:ln w="12700">
            <a:solidFill>
              <a:srgbClr val="232830"/>
            </a:solidFill>
            <a:prstDash val="solid"/>
          </a:ln>
        </p:spPr>
        <p:txBody>
          <a:bodyPr/>
          <a:p/>
        </p:txBody>
      </p:sp>
      <p:pic>
        <p:nvPicPr>
          <p:cNvPr id="8" name="FiTrendingUp" descr="preencoded.png">    </p:cNvPr>
          <p:cNvPicPr>
            <a:picLocks noChangeAspect="1"/>
          </p:cNvPicPr>
          <p:nvPr/>
        </p:nvPicPr>
        <p:blipFill>
          <a:blip r:embed="rId2"/>
          <a:stretch>
            <a:fillRect/>
          </a:stretch>
        </p:blipFill>
        <p:spPr>
          <a:xfrm>
            <a:off x="3474720" y="1371600"/>
            <a:ext cx="365760" cy="365760"/>
          </a:xfrm>
          <a:prstGeom prst="rect">
            <a:avLst/>
          </a:prstGeom>
        </p:spPr>
      </p:pic>
      <p:sp>
        <p:nvSpPr>
          <p:cNvPr id="9" name="Text 5"/>
          <p:cNvSpPr txBox="1"/>
          <p:nvPr/>
        </p:nvSpPr>
        <p:spPr>
          <a:xfrm>
            <a:off x="3474720" y="1810512"/>
            <a:ext cx="2240280" cy="320040"/>
          </a:xfrm>
          <a:prstGeom prst="rect">
            <a:avLst/>
          </a:prstGeom>
          <a:noFill/>
          <a:ln/>
        </p:spPr>
        <p:txBody>
          <a:bodyPr wrap="square" lIns="0" tIns="0" rIns="0" bIns="0" rtlCol="0" anchor="ctr"/>
          <a:lstStyle/>
          <a:p>
            <a:pPr indent="0" marL="0">
              <a:buNone/>
            </a:pPr>
            <a:r>
              <a:rPr lang="en-US" sz="1500" b="1" dirty="0">
                <a:solidFill>
                  <a:schemeClr val="bg1"/>
                </a:solidFill>
                <a:latin typeface="Arial" pitchFamily="34" charset="0"/>
                <a:ea typeface="Arial" pitchFamily="34" charset="-122"/>
                <a:cs typeface="Arial" pitchFamily="34" charset="-120"/>
              </a:rPr>
              <a:t>Paired acceptance test</a:t>
            </a:r>
            <a:endParaRPr lang="en-US" sz="1500" dirty="0"/>
          </a:p>
        </p:txBody>
      </p:sp>
      <p:sp>
        <p:nvSpPr>
          <p:cNvPr id="10" name="Text 6"/>
          <p:cNvSpPr txBox="1"/>
          <p:nvPr/>
        </p:nvSpPr>
        <p:spPr>
          <a:xfrm>
            <a:off x="3474720" y="2148840"/>
            <a:ext cx="2240280" cy="1325880"/>
          </a:xfrm>
          <a:prstGeom prst="rect">
            <a:avLst/>
          </a:prstGeom>
          <a:noFill/>
          <a:ln/>
        </p:spPr>
        <p:txBody>
          <a:bodyPr wrap="square" lIns="0" tIns="0" rIns="0" bIns="0" rtlCol="0" anchor="ctr"/>
          <a:lstStyle/>
          <a:p>
            <a:pPr indent="0" marL="0">
              <a:buNone/>
            </a:pPr>
            <a:r>
              <a:rPr lang="en-US" sz="1150" dirty="0">
                <a:solidFill>
                  <a:schemeClr val="accent6"/>
                </a:solidFill>
              </a:rPr>
              <a:t>A change must beat the champion day by day, not just on the mean. The daily series and CI are already in the evaluator's output.</a:t>
            </a:r>
            <a:endParaRPr lang="en-US" sz="1150" dirty="0"/>
          </a:p>
        </p:txBody>
      </p:sp>
      <p:sp>
        <p:nvSpPr>
          <p:cNvPr id="11" name="next Operator review page"/>
          <p:cNvSpPr/>
          <p:nvPr/>
        </p:nvSpPr>
        <p:spPr>
          <a:xfrm>
            <a:off x="6035040" y="1188720"/>
            <a:ext cx="2560320" cy="2331720"/>
          </a:xfrm>
          <a:prstGeom prst="roundRect">
            <a:avLst>
              <a:gd name="adj" fmla="val 2353"/>
            </a:avLst>
          </a:prstGeom>
          <a:solidFill>
            <a:srgbClr val="232830"/>
          </a:solidFill>
          <a:ln w="12700">
            <a:solidFill>
              <a:srgbClr val="232830"/>
            </a:solidFill>
            <a:prstDash val="solid"/>
          </a:ln>
        </p:spPr>
        <p:txBody>
          <a:bodyPr/>
          <a:p/>
        </p:txBody>
      </p:sp>
      <p:pic>
        <p:nvPicPr>
          <p:cNvPr id="12" name="FiMonitor" descr="preencoded.png">    </p:cNvPr>
          <p:cNvPicPr>
            <a:picLocks noChangeAspect="1"/>
          </p:cNvPicPr>
          <p:nvPr/>
        </p:nvPicPr>
        <p:blipFill>
          <a:blip r:embed="rId3"/>
          <a:stretch>
            <a:fillRect/>
          </a:stretch>
        </p:blipFill>
        <p:spPr>
          <a:xfrm>
            <a:off x="6217920" y="1371600"/>
            <a:ext cx="365760" cy="365760"/>
          </a:xfrm>
          <a:prstGeom prst="rect">
            <a:avLst/>
          </a:prstGeom>
        </p:spPr>
      </p:pic>
      <p:sp>
        <p:nvSpPr>
          <p:cNvPr id="13" name="Text 8"/>
          <p:cNvSpPr txBox="1"/>
          <p:nvPr/>
        </p:nvSpPr>
        <p:spPr>
          <a:xfrm>
            <a:off x="6217920" y="1810512"/>
            <a:ext cx="2240280" cy="320040"/>
          </a:xfrm>
          <a:prstGeom prst="rect">
            <a:avLst/>
          </a:prstGeom>
          <a:noFill/>
          <a:ln/>
        </p:spPr>
        <p:txBody>
          <a:bodyPr wrap="square" lIns="0" tIns="0" rIns="0" bIns="0" rtlCol="0" anchor="ctr"/>
          <a:lstStyle/>
          <a:p>
            <a:pPr indent="0" marL="0">
              <a:buNone/>
            </a:pPr>
            <a:r>
              <a:rPr lang="en-US" sz="1500" b="1" dirty="0">
                <a:solidFill>
                  <a:schemeClr val="bg1"/>
                </a:solidFill>
                <a:latin typeface="Arial" pitchFamily="34" charset="0"/>
                <a:ea typeface="Arial" pitchFamily="34" charset="-122"/>
                <a:cs typeface="Arial" pitchFamily="34" charset="-120"/>
              </a:rPr>
              <a:t>Operator review page</a:t>
            </a:r>
            <a:endParaRPr lang="en-US" sz="1500" dirty="0"/>
          </a:p>
        </p:txBody>
      </p:sp>
      <p:sp>
        <p:nvSpPr>
          <p:cNvPr id="14" name="Text 9"/>
          <p:cNvSpPr txBox="1"/>
          <p:nvPr/>
        </p:nvSpPr>
        <p:spPr>
          <a:xfrm>
            <a:off x="6217920" y="2148840"/>
            <a:ext cx="2240280" cy="1325880"/>
          </a:xfrm>
          <a:prstGeom prst="rect">
            <a:avLst/>
          </a:prstGeom>
          <a:noFill/>
          <a:ln/>
        </p:spPr>
        <p:txBody>
          <a:bodyPr wrap="square" lIns="0" tIns="0" rIns="0" bIns="0" rtlCol="0" anchor="ctr"/>
          <a:lstStyle/>
          <a:p>
            <a:pPr indent="0" marL="0">
              <a:buNone/>
            </a:pPr>
            <a:r>
              <a:rPr lang="en-US" sz="1150" dirty="0">
                <a:solidFill>
                  <a:schemeClr val="accent6"/>
                </a:solidFill>
              </a:rPr>
              <a:t>A per-run report committed with each PR: three windows side by side with dates, every CI, the rule as a diff against the seed, the held-out week, and the failure modes as a first-class section.</a:t>
            </a:r>
            <a:endParaRPr lang="en-US" sz="1150" dirty="0"/>
          </a:p>
        </p:txBody>
      </p:sp>
      <p:sp>
        <p:nvSpPr>
          <p:cNvPr id="15" name="Text 10"/>
          <p:cNvSpPr txBox="1"/>
          <p:nvPr/>
        </p:nvSpPr>
        <p:spPr>
          <a:xfrm>
            <a:off x="548640" y="3794760"/>
            <a:ext cx="8046720" cy="685800"/>
          </a:xfrm>
          <a:prstGeom prst="rect">
            <a:avLst/>
          </a:prstGeom>
          <a:noFill/>
          <a:ln/>
        </p:spPr>
        <p:txBody>
          <a:bodyPr wrap="square" lIns="0" tIns="0" rIns="0" bIns="0" rtlCol="0" anchor="ctr"/>
          <a:lstStyle/>
          <a:p>
            <a:pPr indent="0" marL="0">
              <a:buNone/>
            </a:pPr>
            <a:r>
              <a:rPr lang="en-US" sz="1600" i="1" dirty="0">
                <a:solidFill>
                  <a:schemeClr val="bg1"/>
                </a:solidFill>
              </a:rPr>
              <a:t>Every optimiser in this market sells "we trade smarter". None can show a reproducible number. We can, and the loop that produced it is in the repo.</a:t>
            </a:r>
            <a:endParaRPr lang="en-US" sz="1600" dirty="0"/>
          </a:p>
        </p:txBody>
      </p:sp>
      <p:sp>
        <p:nvSpPr>
          <p:cNvPr id="16" name="Text 11"/>
          <p:cNvSpPr txBox="1"/>
          <p:nvPr/>
        </p:nvSpPr>
        <p:spPr>
          <a:xfrm>
            <a:off x="548640" y="4526280"/>
            <a:ext cx="804672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uv sync  ·  uv run python baselines.py  ·  uv run python gate.py policy.py</a:t>
            </a:r>
            <a:endParaRPr lang="en-US" sz="1100" dirty="0"/>
          </a:p>
        </p:txBody>
      </p:sp>
      <p:sp>
        <p:nvSpPr>
          <p:cNvPr id="18" name="Text 0"/>
          <p:cNvSpPr/>
          <p:nvPr>
            <p:ph idx="100" type="title" hasCustomPrompt="1"/>
          </p:nvPr>
        </p:nvSpPr>
        <p:spPr>
          <a:xfrm>
            <a:off x="548640" y="1463040"/>
            <a:ext cx="8046720" cy="1097280"/>
          </a:xfrm>
          <a:prstGeom prst="rect">
            <a:avLst/>
          </a:prstGeom>
          <a:noFill/>
          <a:ln/>
        </p:spPr>
        <p:txBody>
          <a:bodyPr wrap="square" lIns="0" tIns="0" rIns="0" bIns="0" rtlCol="0" anchor="b"/>
          <a:lstStyle/>
          <a:p>
            <a:pPr algn="l" indent="0" marL="0">
              <a:buNone/>
            </a:pPr>
            <a:endParaRPr lang="en-US" sz="4000" dirty="0"/>
          </a:p>
        </p:txBody>
      </p:sp>
      <p:sp>
        <p:nvSpPr>
          <p:cNvPr id="19" name="Text 0"/>
          <p:cNvSpPr/>
          <p:nvPr>
            <p:ph idx="101" type="body" hasCustomPrompt="1"/>
          </p:nvPr>
        </p:nvSpPr>
        <p:spPr>
          <a:xfrm>
            <a:off x="548640" y="2697480"/>
            <a:ext cx="7315200" cy="128016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Moonfire Dispatch">
  <a:themeElements>
    <a:clrScheme name="Moonfire Dispatch">
      <a:dk1>
        <a:srgbClr val="171A20"/>
      </a:dk1>
      <a:lt1>
        <a:srgbClr val="FFFFFF"/>
      </a:lt1>
      <a:dk2>
        <a:srgbClr val="393C41"/>
      </a:dk2>
      <a:lt2>
        <a:srgbClr val="F4F4F4"/>
      </a:lt2>
      <a:accent1>
        <a:srgbClr val="2A6A4A"/>
      </a:accent1>
      <a:accent2>
        <a:srgbClr val="B03A2E"/>
      </a:accent2>
      <a:accent3>
        <a:srgbClr val="5C5E62"/>
      </a:accent3>
      <a:accent4>
        <a:srgbClr val="C9A227"/>
      </a:accent4>
      <a:accent5>
        <a:srgbClr val="77808A"/>
      </a:accent5>
      <a:accent6>
        <a:srgbClr val="D0D1D2"/>
      </a:accent6>
      <a:hlink>
        <a:srgbClr val="008EE6"/>
      </a:hlink>
      <a:folHlink>
        <a:srgbClr val="5C5E62"/>
      </a:folHlink>
    </a:clrScheme>
    <a:fontScheme name="Moonfire Dispat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Autoresearch for battery dispatch</dc:title>
  <dc:subject>PptxGenJS Presentation</dc:subject>
  <dc:creator>Moonfire hack team</dc:creator>
  <cp:lastModifiedBy>Moonfire hack team</cp:lastModifiedBy>
  <cp:revision>1</cp:revision>
  <dcterms:created xsi:type="dcterms:W3CDTF">2026-10-22T18:08:27Z</dcterms:created>
  <dcterms:modified xsi:type="dcterms:W3CDTF">2026-10-22T18:08:27Z</dcterms:modified>
</cp:coreProperties>
</file>